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72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8" r:id="rId12"/>
    <p:sldId id="265" r:id="rId13"/>
    <p:sldId id="266" r:id="rId14"/>
    <p:sldId id="267" r:id="rId15"/>
    <p:sldId id="269" r:id="rId16"/>
    <p:sldId id="270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508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9934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9D6F9-8027-F133-E9D5-B71C53945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C57488-347C-817F-03FB-C4BD7D40B6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908B56-F90D-0E45-914A-C1299F402E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92E747-E90D-A23C-D849-4CF1926820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7450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DE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unzip/ppt/media/image1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 rot="16200000">
            <a:off x="9784722" y="4450722"/>
            <a:ext cx="2407278" cy="2407278"/>
          </a:xfrm>
          <a:prstGeom prst="rect">
            <a:avLst/>
          </a:prstGeom>
        </p:spPr>
      </p:pic>
      <p:pic>
        <p:nvPicPr>
          <p:cNvPr id="3" name="Image 1" descr="/mnt/data/pptx_unzip/ppt/media/image5.png"/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18288" y="9144"/>
            <a:ext cx="2696036" cy="269603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57162" y="276148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4E8A"/>
                </a:solidFill>
              </a:rPr>
              <a:t>GovSec Product Roadmap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375450" y="335584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45B24"/>
                </a:solidFill>
              </a:rPr>
              <a:t>Q3 2026 – Q2 2027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375450" y="3785616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50">
                <a:solidFill>
                  <a:srgbClr val="5A6B7A"/>
                </a:solidFill>
              </a:rPr>
              <a:t>Roadmap proposal and project cards based on GovSec 3.0 MVP Specification and version changelog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DE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502920" y="4114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502920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4E8A"/>
                </a:solidFill>
              </a:rPr>
              <a:t>The roadmap moves GovSec from MVP productisation into enterprise-grade operation, integration, intelligence expansion, and high-assurance resilience.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594360" y="1874520"/>
            <a:ext cx="2487168" cy="3063240"/>
          </a:xfrm>
          <a:prstGeom prst="rect">
            <a:avLst/>
          </a:prstGeom>
          <a:solidFill>
            <a:srgbClr val="FFFFFF"/>
          </a:solidFill>
          <a:ln w="8255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Shape 3"/>
          <p:cNvSpPr/>
          <p:nvPr/>
        </p:nvSpPr>
        <p:spPr>
          <a:xfrm>
            <a:off x="594360" y="1874520"/>
            <a:ext cx="2487168" cy="411480"/>
          </a:xfrm>
          <a:prstGeom prst="rect">
            <a:avLst/>
          </a:prstGeom>
          <a:solidFill>
            <a:srgbClr val="5DA2D7"/>
          </a:solidFill>
          <a:ln w="8255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Text 4"/>
          <p:cNvSpPr/>
          <p:nvPr/>
        </p:nvSpPr>
        <p:spPr>
          <a:xfrm>
            <a:off x="731520" y="19842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 2026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731520" y="2514600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4E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Productise and pilot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31520" y="3218688"/>
            <a:ext cx="2121408" cy="11430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Harden the v3.0 platform, refine executive visualisation, and prepare feed-quality controls for controlled production use.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447288" y="1874520"/>
            <a:ext cx="2487168" cy="3063240"/>
          </a:xfrm>
          <a:prstGeom prst="rect">
            <a:avLst/>
          </a:prstGeom>
          <a:solidFill>
            <a:srgbClr val="FFFFFF"/>
          </a:solidFill>
          <a:ln w="8255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Shape 8"/>
          <p:cNvSpPr/>
          <p:nvPr/>
        </p:nvSpPr>
        <p:spPr>
          <a:xfrm>
            <a:off x="3447288" y="1874520"/>
            <a:ext cx="2487168" cy="411480"/>
          </a:xfrm>
          <a:prstGeom prst="rect">
            <a:avLst/>
          </a:prstGeom>
          <a:solidFill>
            <a:srgbClr val="5DA2D7"/>
          </a:solidFill>
          <a:ln w="8255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Text 9"/>
          <p:cNvSpPr/>
          <p:nvPr/>
        </p:nvSpPr>
        <p:spPr>
          <a:xfrm>
            <a:off x="3584448" y="19842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 2026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584448" y="2514600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4E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 and govern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584448" y="3218688"/>
            <a:ext cx="2121408" cy="11430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identity assurance, SIEM/ticketing readiness, and repeatable alert-to-case playbooks.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300216" y="1874520"/>
            <a:ext cx="2487168" cy="3063240"/>
          </a:xfrm>
          <a:prstGeom prst="rect">
            <a:avLst/>
          </a:prstGeom>
          <a:solidFill>
            <a:srgbClr val="FFFFFF"/>
          </a:solidFill>
          <a:ln w="8255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Shape 13"/>
          <p:cNvSpPr/>
          <p:nvPr/>
        </p:nvSpPr>
        <p:spPr>
          <a:xfrm>
            <a:off x="6300216" y="1874520"/>
            <a:ext cx="2487168" cy="411480"/>
          </a:xfrm>
          <a:prstGeom prst="rect">
            <a:avLst/>
          </a:prstGeom>
          <a:solidFill>
            <a:srgbClr val="5DA2D7"/>
          </a:solidFill>
          <a:ln w="8255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Text 14"/>
          <p:cNvSpPr/>
          <p:nvPr/>
        </p:nvSpPr>
        <p:spPr>
          <a:xfrm>
            <a:off x="6437376" y="19842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 2027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437376" y="2514600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4E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analysis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437376" y="3218688"/>
            <a:ext cx="2121408" cy="11430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 AI Analyst, threat hunting, and response orchestration foundations.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9153144" y="1874520"/>
            <a:ext cx="2487168" cy="3063240"/>
          </a:xfrm>
          <a:prstGeom prst="rect">
            <a:avLst/>
          </a:prstGeom>
          <a:solidFill>
            <a:srgbClr val="FFFFFF"/>
          </a:solidFill>
          <a:ln w="8255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Shape 18"/>
          <p:cNvSpPr/>
          <p:nvPr/>
        </p:nvSpPr>
        <p:spPr>
          <a:xfrm>
            <a:off x="9153144" y="1874520"/>
            <a:ext cx="2487168" cy="411480"/>
          </a:xfrm>
          <a:prstGeom prst="rect">
            <a:avLst/>
          </a:prstGeom>
          <a:solidFill>
            <a:srgbClr val="5DA2D7"/>
          </a:solidFill>
          <a:ln w="8255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" name="Text 19"/>
          <p:cNvSpPr/>
          <p:nvPr/>
        </p:nvSpPr>
        <p:spPr>
          <a:xfrm>
            <a:off x="9290304" y="19842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 2027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9290304" y="2514600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4E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Broaden assurance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9290304" y="3218688"/>
            <a:ext cx="2121408" cy="11430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Introduce exposure monitoring, BYOK/HA planning, and maturity analytics for roadmap refresh.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C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CC3724-7280-7E3F-85A0-B88010231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ovSec_Gantt_Q3_2026_Q2_2027.png">
            <a:extLst>
              <a:ext uri="{FF2B5EF4-FFF2-40B4-BE49-F238E27FC236}">
                <a16:creationId xmlns:a16="http://schemas.microsoft.com/office/drawing/2014/main" id="{17A97F7B-B9E9-BB77-1CEB-7A0E580162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" y="0"/>
            <a:ext cx="121916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572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DE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502920" y="4114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GovSec Product Roadmap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594360" y="1234440"/>
            <a:ext cx="2670048" cy="457200"/>
          </a:xfrm>
          <a:prstGeom prst="rect">
            <a:avLst/>
          </a:prstGeom>
          <a:solidFill>
            <a:srgbClr val="5DA2D7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2"/>
          <p:cNvSpPr/>
          <p:nvPr/>
        </p:nvSpPr>
        <p:spPr>
          <a:xfrm>
            <a:off x="704088" y="137160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 2026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704088" y="1874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4E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Productise and pilot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94360" y="2267712"/>
            <a:ext cx="2670048" cy="512064"/>
          </a:xfrm>
          <a:prstGeom prst="rect">
            <a:avLst/>
          </a:prstGeom>
          <a:solidFill>
            <a:srgbClr val="E7F1FA"/>
          </a:solidFill>
          <a:ln w="8255">
            <a:solidFill>
              <a:srgbClr val="A0A0A0"/>
            </a:solidFill>
            <a:prstDash val="solid"/>
          </a:ln>
        </p:spPr>
        <p:txBody>
          <a:bodyPr/>
          <a:lstStyle/>
          <a:p>
            <a:endParaRPr lang="en-MY" sz="1000" b="1"/>
          </a:p>
        </p:txBody>
      </p:sp>
      <p:sp>
        <p:nvSpPr>
          <p:cNvPr id="9" name="Text 5"/>
          <p:cNvSpPr/>
          <p:nvPr/>
        </p:nvSpPr>
        <p:spPr>
          <a:xfrm>
            <a:off x="722376" y="245059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Hardening &amp; Pilot</a:t>
            </a:r>
            <a:endParaRPr lang="en-US" sz="1000" b="1" dirty="0"/>
          </a:p>
        </p:txBody>
      </p:sp>
      <p:sp>
        <p:nvSpPr>
          <p:cNvPr id="10" name="Shape 6"/>
          <p:cNvSpPr/>
          <p:nvPr/>
        </p:nvSpPr>
        <p:spPr>
          <a:xfrm>
            <a:off x="594360" y="2980944"/>
            <a:ext cx="2670048" cy="512064"/>
          </a:xfrm>
          <a:prstGeom prst="rect">
            <a:avLst/>
          </a:prstGeom>
          <a:solidFill>
            <a:srgbClr val="FCEBDD"/>
          </a:solidFill>
          <a:ln w="8255">
            <a:solidFill>
              <a:srgbClr val="A0A0A0"/>
            </a:solidFill>
            <a:prstDash val="solid"/>
          </a:ln>
        </p:spPr>
        <p:txBody>
          <a:bodyPr/>
          <a:lstStyle/>
          <a:p>
            <a:endParaRPr lang="en-MY" sz="1000" b="1"/>
          </a:p>
        </p:txBody>
      </p:sp>
      <p:sp>
        <p:nvSpPr>
          <p:cNvPr id="11" name="Text 7"/>
          <p:cNvSpPr/>
          <p:nvPr/>
        </p:nvSpPr>
        <p:spPr>
          <a:xfrm>
            <a:off x="722376" y="3163824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Posture &amp; Visualisation</a:t>
            </a:r>
            <a:endParaRPr lang="en-US" sz="1000" b="1" dirty="0"/>
          </a:p>
        </p:txBody>
      </p:sp>
      <p:sp>
        <p:nvSpPr>
          <p:cNvPr id="12" name="Shape 8"/>
          <p:cNvSpPr/>
          <p:nvPr/>
        </p:nvSpPr>
        <p:spPr>
          <a:xfrm>
            <a:off x="594360" y="3694176"/>
            <a:ext cx="2670048" cy="512064"/>
          </a:xfrm>
          <a:prstGeom prst="rect">
            <a:avLst/>
          </a:prstGeom>
          <a:solidFill>
            <a:srgbClr val="E7F1FA"/>
          </a:solidFill>
          <a:ln w="8255">
            <a:solidFill>
              <a:srgbClr val="A0A0A0"/>
            </a:solidFill>
            <a:prstDash val="solid"/>
          </a:ln>
        </p:spPr>
        <p:txBody>
          <a:bodyPr/>
          <a:lstStyle/>
          <a:p>
            <a:endParaRPr lang="en-MY" sz="1000" b="1"/>
          </a:p>
        </p:txBody>
      </p:sp>
      <p:sp>
        <p:nvSpPr>
          <p:cNvPr id="13" name="Text 9"/>
          <p:cNvSpPr/>
          <p:nvPr/>
        </p:nvSpPr>
        <p:spPr>
          <a:xfrm>
            <a:off x="722376" y="3877056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 Quality &amp; Integration Pack</a:t>
            </a:r>
            <a:endParaRPr lang="en-US" sz="1000" b="1" dirty="0"/>
          </a:p>
        </p:txBody>
      </p:sp>
      <p:sp>
        <p:nvSpPr>
          <p:cNvPr id="14" name="Shape 10"/>
          <p:cNvSpPr/>
          <p:nvPr/>
        </p:nvSpPr>
        <p:spPr>
          <a:xfrm>
            <a:off x="3410712" y="1234440"/>
            <a:ext cx="2670048" cy="457200"/>
          </a:xfrm>
          <a:prstGeom prst="rect">
            <a:avLst/>
          </a:prstGeom>
          <a:solidFill>
            <a:srgbClr val="5DA2D7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Text 11"/>
          <p:cNvSpPr/>
          <p:nvPr/>
        </p:nvSpPr>
        <p:spPr>
          <a:xfrm>
            <a:off x="3520440" y="137160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 2026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520440" y="1874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4E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 and govern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410712" y="2267712"/>
            <a:ext cx="2670048" cy="512064"/>
          </a:xfrm>
          <a:prstGeom prst="rect">
            <a:avLst/>
          </a:prstGeom>
          <a:solidFill>
            <a:srgbClr val="E7F1FA"/>
          </a:solidFill>
          <a:ln w="8255">
            <a:solidFill>
              <a:srgbClr val="A0A0A0"/>
            </a:solidFill>
            <a:prstDash val="solid"/>
          </a:ln>
        </p:spPr>
        <p:txBody>
          <a:bodyPr/>
          <a:lstStyle/>
          <a:p>
            <a:endParaRPr lang="en-MY" sz="1000" b="1"/>
          </a:p>
        </p:txBody>
      </p:sp>
      <p:sp>
        <p:nvSpPr>
          <p:cNvPr id="18" name="Text 14"/>
          <p:cNvSpPr/>
          <p:nvPr/>
        </p:nvSpPr>
        <p:spPr>
          <a:xfrm>
            <a:off x="3538728" y="245059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Identity/MFA &amp; Access Assurance</a:t>
            </a:r>
            <a:endParaRPr lang="en-US" sz="1000" b="1" dirty="0"/>
          </a:p>
        </p:txBody>
      </p:sp>
      <p:sp>
        <p:nvSpPr>
          <p:cNvPr id="19" name="Shape 15"/>
          <p:cNvSpPr/>
          <p:nvPr/>
        </p:nvSpPr>
        <p:spPr>
          <a:xfrm>
            <a:off x="3410712" y="2980944"/>
            <a:ext cx="2670048" cy="512064"/>
          </a:xfrm>
          <a:prstGeom prst="rect">
            <a:avLst/>
          </a:prstGeom>
          <a:solidFill>
            <a:srgbClr val="FCEBDD"/>
          </a:solidFill>
          <a:ln w="8255">
            <a:solidFill>
              <a:srgbClr val="A0A0A0"/>
            </a:solidFill>
            <a:prstDash val="solid"/>
          </a:ln>
        </p:spPr>
        <p:txBody>
          <a:bodyPr/>
          <a:lstStyle/>
          <a:p>
            <a:endParaRPr lang="en-MY" sz="1000" b="1"/>
          </a:p>
        </p:txBody>
      </p:sp>
      <p:sp>
        <p:nvSpPr>
          <p:cNvPr id="20" name="Text 16"/>
          <p:cNvSpPr/>
          <p:nvPr/>
        </p:nvSpPr>
        <p:spPr>
          <a:xfrm>
            <a:off x="3538728" y="3163824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000000"/>
                </a:solidFill>
                <a:latin typeface="Aptos"/>
              </a:rPr>
              <a:t>SIEM &amp; Ticketing Blueprint</a:t>
            </a:r>
            <a:endParaRPr lang="en-US" sz="1000" b="1" dirty="0"/>
          </a:p>
        </p:txBody>
      </p:sp>
      <p:sp>
        <p:nvSpPr>
          <p:cNvPr id="21" name="Shape 17"/>
          <p:cNvSpPr/>
          <p:nvPr/>
        </p:nvSpPr>
        <p:spPr>
          <a:xfrm>
            <a:off x="3410712" y="3694176"/>
            <a:ext cx="2670048" cy="512064"/>
          </a:xfrm>
          <a:prstGeom prst="rect">
            <a:avLst/>
          </a:prstGeom>
          <a:solidFill>
            <a:srgbClr val="E7F1FA"/>
          </a:solidFill>
          <a:ln w="8255">
            <a:solidFill>
              <a:srgbClr val="A0A0A0"/>
            </a:solidFill>
            <a:prstDash val="solid"/>
          </a:ln>
        </p:spPr>
        <p:txBody>
          <a:bodyPr/>
          <a:lstStyle/>
          <a:p>
            <a:endParaRPr lang="en-MY" sz="1000" b="1"/>
          </a:p>
        </p:txBody>
      </p:sp>
      <p:sp>
        <p:nvSpPr>
          <p:cNvPr id="22" name="Text 18"/>
          <p:cNvSpPr/>
          <p:nvPr/>
        </p:nvSpPr>
        <p:spPr>
          <a:xfrm>
            <a:off x="3538728" y="3812574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sz="1000" b="1" dirty="0">
                <a:solidFill>
                  <a:srgbClr val="000000"/>
                </a:solidFill>
                <a:latin typeface="Arial"/>
              </a:rPr>
              <a:t>Playbooks &amp; Case Automation / Exposure</a:t>
            </a:r>
          </a:p>
        </p:txBody>
      </p:sp>
      <p:sp>
        <p:nvSpPr>
          <p:cNvPr id="23" name="Shape 19"/>
          <p:cNvSpPr/>
          <p:nvPr/>
        </p:nvSpPr>
        <p:spPr>
          <a:xfrm>
            <a:off x="6227064" y="1234440"/>
            <a:ext cx="2670048" cy="457200"/>
          </a:xfrm>
          <a:prstGeom prst="rect">
            <a:avLst/>
          </a:prstGeom>
          <a:solidFill>
            <a:srgbClr val="5DA2D7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" name="Text 20"/>
          <p:cNvSpPr/>
          <p:nvPr/>
        </p:nvSpPr>
        <p:spPr>
          <a:xfrm>
            <a:off x="6336792" y="137160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 2027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6336792" y="1874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4E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analysis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227064" y="2267712"/>
            <a:ext cx="2670048" cy="512064"/>
          </a:xfrm>
          <a:prstGeom prst="rect">
            <a:avLst/>
          </a:prstGeom>
          <a:solidFill>
            <a:srgbClr val="E7F1FA"/>
          </a:solidFill>
          <a:ln w="8255">
            <a:solidFill>
              <a:srgbClr val="A0A0A0"/>
            </a:solidFill>
            <a:prstDash val="solid"/>
          </a:ln>
        </p:spPr>
        <p:txBody>
          <a:bodyPr/>
          <a:lstStyle/>
          <a:p>
            <a:endParaRPr lang="en-MY" sz="1000" b="1"/>
          </a:p>
        </p:txBody>
      </p:sp>
      <p:sp>
        <p:nvSpPr>
          <p:cNvPr id="27" name="Text 23"/>
          <p:cNvSpPr/>
          <p:nvPr/>
        </p:nvSpPr>
        <p:spPr>
          <a:xfrm>
            <a:off x="6355080" y="245059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000000"/>
                </a:solidFill>
                <a:latin typeface="Aptos"/>
              </a:rPr>
              <a:t>RAG Pipeline &amp; Semantic Search</a:t>
            </a:r>
            <a:endParaRPr lang="en-US" sz="1000" b="1" dirty="0"/>
          </a:p>
        </p:txBody>
      </p:sp>
      <p:sp>
        <p:nvSpPr>
          <p:cNvPr id="28" name="Shape 24"/>
          <p:cNvSpPr/>
          <p:nvPr/>
        </p:nvSpPr>
        <p:spPr>
          <a:xfrm>
            <a:off x="6227064" y="2980944"/>
            <a:ext cx="2670048" cy="512064"/>
          </a:xfrm>
          <a:prstGeom prst="rect">
            <a:avLst/>
          </a:prstGeom>
          <a:solidFill>
            <a:srgbClr val="FCEBDD"/>
          </a:solidFill>
          <a:ln w="8255">
            <a:solidFill>
              <a:srgbClr val="A0A0A0"/>
            </a:solidFill>
            <a:prstDash val="solid"/>
          </a:ln>
        </p:spPr>
        <p:txBody>
          <a:bodyPr/>
          <a:lstStyle/>
          <a:p>
            <a:endParaRPr lang="en-MY" sz="1000" b="1"/>
          </a:p>
        </p:txBody>
      </p:sp>
      <p:sp>
        <p:nvSpPr>
          <p:cNvPr id="29" name="Text 25"/>
          <p:cNvSpPr/>
          <p:nvPr/>
        </p:nvSpPr>
        <p:spPr>
          <a:xfrm>
            <a:off x="6355080" y="3163824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 Threat Hunting</a:t>
            </a:r>
            <a:endParaRPr lang="en-US" sz="1000" b="1" dirty="0"/>
          </a:p>
        </p:txBody>
      </p:sp>
      <p:sp>
        <p:nvSpPr>
          <p:cNvPr id="30" name="Shape 26"/>
          <p:cNvSpPr/>
          <p:nvPr/>
        </p:nvSpPr>
        <p:spPr>
          <a:xfrm>
            <a:off x="6227064" y="3694176"/>
            <a:ext cx="2670048" cy="512064"/>
          </a:xfrm>
          <a:prstGeom prst="rect">
            <a:avLst/>
          </a:prstGeom>
          <a:solidFill>
            <a:srgbClr val="E7F1FA"/>
          </a:solidFill>
          <a:ln w="8255">
            <a:solidFill>
              <a:srgbClr val="A0A0A0"/>
            </a:solidFill>
            <a:prstDash val="solid"/>
          </a:ln>
        </p:spPr>
        <p:txBody>
          <a:bodyPr/>
          <a:lstStyle/>
          <a:p>
            <a:endParaRPr lang="en-MY" sz="1000" b="1"/>
          </a:p>
        </p:txBody>
      </p:sp>
      <p:sp>
        <p:nvSpPr>
          <p:cNvPr id="31" name="Text 27"/>
          <p:cNvSpPr/>
          <p:nvPr/>
        </p:nvSpPr>
        <p:spPr>
          <a:xfrm>
            <a:off x="6355080" y="3877056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000000"/>
                </a:solidFill>
                <a:latin typeface="Aptos"/>
              </a:rPr>
              <a:t>CSM SOAR Integration</a:t>
            </a:r>
            <a:endParaRPr lang="en-US" sz="1000" b="1" dirty="0"/>
          </a:p>
        </p:txBody>
      </p:sp>
      <p:sp>
        <p:nvSpPr>
          <p:cNvPr id="32" name="Shape 28"/>
          <p:cNvSpPr/>
          <p:nvPr/>
        </p:nvSpPr>
        <p:spPr>
          <a:xfrm>
            <a:off x="9043416" y="1234440"/>
            <a:ext cx="2670048" cy="457200"/>
          </a:xfrm>
          <a:prstGeom prst="rect">
            <a:avLst/>
          </a:prstGeom>
          <a:solidFill>
            <a:srgbClr val="5DA2D7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3" name="Text 29"/>
          <p:cNvSpPr/>
          <p:nvPr/>
        </p:nvSpPr>
        <p:spPr>
          <a:xfrm>
            <a:off x="9153144" y="137160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 2027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9153144" y="1874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4E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Broaden assurance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9043416" y="2267712"/>
            <a:ext cx="2670048" cy="512064"/>
          </a:xfrm>
          <a:prstGeom prst="rect">
            <a:avLst/>
          </a:prstGeom>
          <a:solidFill>
            <a:srgbClr val="E7F1FA"/>
          </a:solidFill>
          <a:ln w="8255">
            <a:solidFill>
              <a:srgbClr val="A0A0A0"/>
            </a:solidFill>
            <a:prstDash val="solid"/>
          </a:ln>
        </p:spPr>
        <p:txBody>
          <a:bodyPr/>
          <a:lstStyle/>
          <a:p>
            <a:endParaRPr lang="en-MY" sz="1000" b="1"/>
          </a:p>
        </p:txBody>
      </p:sp>
      <p:sp>
        <p:nvSpPr>
          <p:cNvPr id="36" name="Text 32"/>
          <p:cNvSpPr/>
          <p:nvPr/>
        </p:nvSpPr>
        <p:spPr>
          <a:xfrm>
            <a:off x="9171432" y="245059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000000"/>
                </a:solidFill>
                <a:latin typeface="Aptos"/>
              </a:rPr>
              <a:t>BYOK/HYOK &amp; High Availability</a:t>
            </a:r>
            <a:endParaRPr lang="en-US" sz="1000" b="1" dirty="0"/>
          </a:p>
        </p:txBody>
      </p:sp>
      <p:sp>
        <p:nvSpPr>
          <p:cNvPr id="37" name="Shape 33"/>
          <p:cNvSpPr/>
          <p:nvPr/>
        </p:nvSpPr>
        <p:spPr>
          <a:xfrm>
            <a:off x="9043416" y="2980944"/>
            <a:ext cx="2670048" cy="512064"/>
          </a:xfrm>
          <a:prstGeom prst="rect">
            <a:avLst/>
          </a:prstGeom>
          <a:solidFill>
            <a:srgbClr val="FCEBDD"/>
          </a:solidFill>
          <a:ln w="8255">
            <a:solidFill>
              <a:srgbClr val="A0A0A0"/>
            </a:solidFill>
            <a:prstDash val="solid"/>
          </a:ln>
        </p:spPr>
        <p:txBody>
          <a:bodyPr/>
          <a:lstStyle/>
          <a:p>
            <a:endParaRPr lang="en-MY" sz="1000" b="1"/>
          </a:p>
        </p:txBody>
      </p:sp>
      <p:sp>
        <p:nvSpPr>
          <p:cNvPr id="38" name="Text 34"/>
          <p:cNvSpPr/>
          <p:nvPr/>
        </p:nvSpPr>
        <p:spPr>
          <a:xfrm>
            <a:off x="9171432" y="3163824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000000"/>
                </a:solidFill>
                <a:latin typeface="Aptos"/>
              </a:rPr>
              <a:t>Regulatory Change &amp; Maturity Analytics</a:t>
            </a:r>
            <a:endParaRPr lang="en-US" sz="1000" b="1" dirty="0"/>
          </a:p>
        </p:txBody>
      </p:sp>
      <p:sp>
        <p:nvSpPr>
          <p:cNvPr id="39" name="Shape 35"/>
          <p:cNvSpPr/>
          <p:nvPr/>
        </p:nvSpPr>
        <p:spPr>
          <a:xfrm>
            <a:off x="9043416" y="3694176"/>
            <a:ext cx="2670048" cy="512064"/>
          </a:xfrm>
          <a:prstGeom prst="rect">
            <a:avLst/>
          </a:prstGeom>
          <a:solidFill>
            <a:srgbClr val="E7F1FA"/>
          </a:solidFill>
          <a:ln w="8255">
            <a:solidFill>
              <a:srgbClr val="A0A0A0"/>
            </a:solidFill>
            <a:prstDash val="solid"/>
          </a:ln>
        </p:spPr>
        <p:txBody>
          <a:bodyPr/>
          <a:lstStyle/>
          <a:p>
            <a:r>
              <a:rPr lang="en-MY" sz="1000" b="1" dirty="0"/>
              <a:t>Roadmap Refresh &amp; Next-Phase Planning</a:t>
            </a:r>
          </a:p>
        </p:txBody>
      </p:sp>
      <p:sp>
        <p:nvSpPr>
          <p:cNvPr id="40" name="Text 36"/>
          <p:cNvSpPr/>
          <p:nvPr/>
        </p:nvSpPr>
        <p:spPr>
          <a:xfrm>
            <a:off x="9171432" y="3877056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endParaRPr lang="en-US" sz="1000" b="1" dirty="0"/>
          </a:p>
        </p:txBody>
      </p:sp>
      <p:sp>
        <p:nvSpPr>
          <p:cNvPr id="41" name="Text 37"/>
          <p:cNvSpPr/>
          <p:nvPr/>
        </p:nvSpPr>
        <p:spPr>
          <a:xfrm>
            <a:off x="594360" y="46177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E8A"/>
                </a:solidFill>
              </a:rPr>
              <a:t>Roadmap sequencing</a:t>
            </a:r>
            <a:endParaRPr lang="en-US" sz="1200" dirty="0"/>
          </a:p>
        </p:txBody>
      </p:sp>
      <p:sp>
        <p:nvSpPr>
          <p:cNvPr id="42" name="Text 38"/>
          <p:cNvSpPr/>
          <p:nvPr/>
        </p:nvSpPr>
        <p:spPr>
          <a:xfrm>
            <a:off x="868680" y="5001768"/>
            <a:ext cx="104241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Q3 establishes production confidence around the v3.0 MVP release and executive visualisation baseline.</a:t>
            </a:r>
            <a:endParaRPr lang="en-US" sz="1000" dirty="0"/>
          </a:p>
        </p:txBody>
      </p:sp>
      <p:sp>
        <p:nvSpPr>
          <p:cNvPr id="43" name="Text 39"/>
          <p:cNvSpPr/>
          <p:nvPr/>
        </p:nvSpPr>
        <p:spPr>
          <a:xfrm>
            <a:off x="868680" y="5294376"/>
            <a:ext cx="104241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sz="1000">
                <a:solidFill>
                  <a:srgbClr val="000000"/>
                </a:solidFill>
                <a:latin typeface="Aptos"/>
              </a:rPr>
              <a:t>• Q4 prepares enterprise operations through identity assurance, SOC integration, repeatable playbooks, and external exposure visibility.</a:t>
            </a:r>
            <a:endParaRPr lang="en-US" sz="1000" dirty="0"/>
          </a:p>
        </p:txBody>
      </p:sp>
      <p:sp>
        <p:nvSpPr>
          <p:cNvPr id="44" name="Text 40"/>
          <p:cNvSpPr/>
          <p:nvPr/>
        </p:nvSpPr>
        <p:spPr>
          <a:xfrm>
            <a:off x="868680" y="5586984"/>
            <a:ext cx="104241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Q1 expands AI-assisted analysis, threat hunting, and safe response orchestration foundations.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868680" y="5879592"/>
            <a:ext cx="104241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sz="1000">
                <a:solidFill>
                  <a:srgbClr val="000000"/>
                </a:solidFill>
                <a:latin typeface="Aptos"/>
              </a:rPr>
              <a:t>• Q2 broadens high-assurance resilience and maturity analytics for the next roadmap cycle.</a:t>
            </a:r>
            <a:endParaRPr lang="en-US" sz="1000" dirty="0"/>
          </a:p>
        </p:txBody>
      </p:sp>
      <p:sp>
        <p:nvSpPr>
          <p:cNvPr id="46" name="TextBox 45"/>
          <p:cNvSpPr txBox="1"/>
          <p:nvPr/>
        </p:nvSpPr>
        <p:spPr>
          <a:xfrm>
            <a:off x="3538728" y="4370832"/>
            <a:ext cx="18473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0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DE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502920" y="4114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cards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8796528" y="411480"/>
            <a:ext cx="1188720" cy="338328"/>
          </a:xfrm>
          <a:prstGeom prst="rect">
            <a:avLst/>
          </a:prstGeom>
          <a:solidFill>
            <a:srgbClr val="F47B20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Shape 2"/>
          <p:cNvSpPr/>
          <p:nvPr/>
        </p:nvSpPr>
        <p:spPr>
          <a:xfrm>
            <a:off x="9985248" y="411480"/>
            <a:ext cx="1874520" cy="338328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Text 3"/>
          <p:cNvSpPr/>
          <p:nvPr/>
        </p:nvSpPr>
        <p:spPr>
          <a:xfrm>
            <a:off x="8887968" y="4846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0076688" y="48463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CTI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1170432"/>
            <a:ext cx="11411712" cy="429768"/>
          </a:xfrm>
          <a:prstGeom prst="rect">
            <a:avLst/>
          </a:prstGeom>
          <a:solidFill>
            <a:srgbClr val="5DA2D7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6"/>
          <p:cNvSpPr/>
          <p:nvPr/>
        </p:nvSpPr>
        <p:spPr>
          <a:xfrm>
            <a:off x="566928" y="1298448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Production Hardening &amp; Pilot Enablement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0360152" y="126187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</a:rPr>
              <a:t>Q3 2026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57200" y="1600200"/>
            <a:ext cx="11411712" cy="292608"/>
          </a:xfrm>
          <a:prstGeom prst="rect">
            <a:avLst/>
          </a:prstGeom>
          <a:solidFill>
            <a:srgbClr val="EDEDED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Text 9"/>
          <p:cNvSpPr/>
          <p:nvPr/>
        </p:nvSpPr>
        <p:spPr>
          <a:xfrm>
            <a:off x="548640" y="1691640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Description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457200" y="1892808"/>
            <a:ext cx="11411712" cy="914400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Text 11"/>
          <p:cNvSpPr/>
          <p:nvPr/>
        </p:nvSpPr>
        <p:spPr>
          <a:xfrm>
            <a:off x="548640" y="2011680"/>
            <a:ext cx="1109167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sz="920">
                <a:solidFill>
                  <a:srgbClr val="000000"/>
                </a:solidFill>
                <a:latin typeface="Aptos"/>
              </a:rPr>
              <a:t>•  Stabilise GovSec 3.0 for controlled production pilot usage, closing security findings, validating deployment tooling, and preparing operations teams for live threat-intelligence workflows.</a:t>
            </a:r>
            <a:endParaRPr lang="en-US" sz="920" dirty="0"/>
          </a:p>
        </p:txBody>
      </p:sp>
      <p:sp>
        <p:nvSpPr>
          <p:cNvPr id="16" name="Shape 12"/>
          <p:cNvSpPr/>
          <p:nvPr/>
        </p:nvSpPr>
        <p:spPr>
          <a:xfrm>
            <a:off x="457200" y="2807208"/>
            <a:ext cx="2651760" cy="530352"/>
          </a:xfrm>
          <a:prstGeom prst="rect">
            <a:avLst/>
          </a:prstGeom>
          <a:solidFill>
            <a:srgbClr val="D9D9D9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3"/>
          <p:cNvSpPr/>
          <p:nvPr/>
        </p:nvSpPr>
        <p:spPr>
          <a:xfrm>
            <a:off x="685800" y="299008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◷  Estimated duration</a:t>
            </a:r>
            <a:endParaRPr lang="en-US" sz="840" dirty="0"/>
          </a:p>
        </p:txBody>
      </p:sp>
      <p:sp>
        <p:nvSpPr>
          <p:cNvPr id="18" name="Shape 14"/>
          <p:cNvSpPr/>
          <p:nvPr/>
        </p:nvSpPr>
        <p:spPr>
          <a:xfrm>
            <a:off x="3108960" y="2807208"/>
            <a:ext cx="3931920" cy="530352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Text 15"/>
          <p:cNvSpPr/>
          <p:nvPr/>
        </p:nvSpPr>
        <p:spPr>
          <a:xfrm>
            <a:off x="3246120" y="3008376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8–10 weeks</a:t>
            </a:r>
            <a:endParaRPr lang="en-US" sz="860" dirty="0"/>
          </a:p>
        </p:txBody>
      </p:sp>
      <p:sp>
        <p:nvSpPr>
          <p:cNvPr id="20" name="Shape 16"/>
          <p:cNvSpPr/>
          <p:nvPr/>
        </p:nvSpPr>
        <p:spPr>
          <a:xfrm>
            <a:off x="7040880" y="2807208"/>
            <a:ext cx="2249424" cy="530352"/>
          </a:xfrm>
          <a:prstGeom prst="rect">
            <a:avLst/>
          </a:prstGeom>
          <a:solidFill>
            <a:srgbClr val="D9D9D9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Text 17"/>
          <p:cNvSpPr/>
          <p:nvPr/>
        </p:nvSpPr>
        <p:spPr>
          <a:xfrm>
            <a:off x="7269480" y="299008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⚙  Estimate effort</a:t>
            </a:r>
            <a:endParaRPr lang="en-US" sz="840" dirty="0"/>
          </a:p>
        </p:txBody>
      </p:sp>
      <p:sp>
        <p:nvSpPr>
          <p:cNvPr id="22" name="Shape 18"/>
          <p:cNvSpPr/>
          <p:nvPr/>
        </p:nvSpPr>
        <p:spPr>
          <a:xfrm>
            <a:off x="9290304" y="2807208"/>
            <a:ext cx="2578608" cy="530352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" name="Text 19"/>
          <p:cNvSpPr/>
          <p:nvPr/>
        </p:nvSpPr>
        <p:spPr>
          <a:xfrm>
            <a:off x="9418320" y="3008376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FTEs</a:t>
            </a:r>
            <a:endParaRPr lang="en-US" sz="860" dirty="0"/>
          </a:p>
        </p:txBody>
      </p:sp>
      <p:sp>
        <p:nvSpPr>
          <p:cNvPr id="24" name="Shape 20"/>
          <p:cNvSpPr/>
          <p:nvPr/>
        </p:nvSpPr>
        <p:spPr>
          <a:xfrm>
            <a:off x="457200" y="3337560"/>
            <a:ext cx="2651760" cy="502920"/>
          </a:xfrm>
          <a:prstGeom prst="rect">
            <a:avLst/>
          </a:prstGeom>
          <a:solidFill>
            <a:srgbClr val="D9D9D9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" name="Text 21"/>
          <p:cNvSpPr/>
          <p:nvPr/>
        </p:nvSpPr>
        <p:spPr>
          <a:xfrm>
            <a:off x="685800" y="351129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🔗  Project dependencies</a:t>
            </a:r>
            <a:endParaRPr lang="en-US" sz="840" dirty="0"/>
          </a:p>
        </p:txBody>
      </p:sp>
      <p:sp>
        <p:nvSpPr>
          <p:cNvPr id="26" name="Shape 22"/>
          <p:cNvSpPr/>
          <p:nvPr/>
        </p:nvSpPr>
        <p:spPr>
          <a:xfrm>
            <a:off x="3108960" y="3337560"/>
            <a:ext cx="8759952" cy="502920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" name="Text 23"/>
          <p:cNvSpPr/>
          <p:nvPr/>
        </p:nvSpPr>
        <p:spPr>
          <a:xfrm>
            <a:off x="3246120" y="3511296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GovSec v3.0 baseline; security audit remediation plan</a:t>
            </a:r>
            <a:endParaRPr lang="en-US" sz="860" dirty="0"/>
          </a:p>
        </p:txBody>
      </p:sp>
      <p:sp>
        <p:nvSpPr>
          <p:cNvPr id="28" name="Shape 24"/>
          <p:cNvSpPr/>
          <p:nvPr/>
        </p:nvSpPr>
        <p:spPr>
          <a:xfrm>
            <a:off x="457200" y="3840480"/>
            <a:ext cx="11411712" cy="475488"/>
          </a:xfrm>
          <a:prstGeom prst="rect">
            <a:avLst/>
          </a:prstGeom>
          <a:solidFill>
            <a:srgbClr val="D9D9D9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9" name="Text 25"/>
          <p:cNvSpPr/>
          <p:nvPr/>
        </p:nvSpPr>
        <p:spPr>
          <a:xfrm>
            <a:off x="685800" y="401421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▣  Key Deliverables</a:t>
            </a:r>
            <a:endParaRPr lang="en-US" sz="840" dirty="0"/>
          </a:p>
        </p:txBody>
      </p:sp>
      <p:sp>
        <p:nvSpPr>
          <p:cNvPr id="30" name="Shape 26"/>
          <p:cNvSpPr/>
          <p:nvPr/>
        </p:nvSpPr>
        <p:spPr>
          <a:xfrm>
            <a:off x="457200" y="4315968"/>
            <a:ext cx="5705856" cy="1627632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" name="Shape 27"/>
          <p:cNvSpPr/>
          <p:nvPr/>
        </p:nvSpPr>
        <p:spPr>
          <a:xfrm>
            <a:off x="6163056" y="4315968"/>
            <a:ext cx="5705856" cy="1627632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" name="Text 28"/>
          <p:cNvSpPr/>
          <p:nvPr/>
        </p:nvSpPr>
        <p:spPr>
          <a:xfrm>
            <a:off x="566928" y="4407408"/>
            <a:ext cx="5477256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sz="840">
                <a:solidFill>
                  <a:srgbClr val="000000"/>
                </a:solidFill>
                <a:latin typeface="Aptos"/>
              </a:rPr>
              <a:t>Security remediation baseline</a:t>
            </a:r>
            <a:endParaRPr lang="en-US" sz="840" dirty="0"/>
          </a:p>
          <a:p>
            <a:r>
              <a:rPr sz="840">
                <a:solidFill>
                  <a:srgbClr val="000000"/>
                </a:solidFill>
                <a:latin typeface="Aptos"/>
              </a:rPr>
              <a:t>•  Close remaining OWASP Web and LLM findings</a:t>
            </a:r>
          </a:p>
          <a:p>
            <a:r>
              <a:rPr sz="840">
                <a:solidFill>
                  <a:srgbClr val="000000"/>
                </a:solidFill>
                <a:latin typeface="Aptos"/>
              </a:rPr>
              <a:t>•  Add security headers, password complexity, and delete audit logging</a:t>
            </a:r>
          </a:p>
          <a:p>
            <a:r>
              <a:rPr sz="840">
                <a:solidFill>
                  <a:srgbClr val="000000"/>
                </a:solidFill>
                <a:latin typeface="Aptos"/>
              </a:rPr>
              <a:t>•  Set NODE_ENV=production and validate deployment rollback</a:t>
            </a:r>
          </a:p>
        </p:txBody>
      </p:sp>
      <p:sp>
        <p:nvSpPr>
          <p:cNvPr id="33" name="Text 29"/>
          <p:cNvSpPr/>
          <p:nvPr/>
        </p:nvSpPr>
        <p:spPr>
          <a:xfrm>
            <a:off x="6272784" y="4407408"/>
            <a:ext cx="5477256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operating model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Pilot environment with seeded feeds and users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Runbook for feed ingestion, scheduler monitoring, and incident triage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Operational acceptance checklist and go/no-go report</a:t>
            </a:r>
            <a:endParaRPr lang="en-US" sz="8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DE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502920" y="4114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cards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8796528" y="411480"/>
            <a:ext cx="1188720" cy="338328"/>
          </a:xfrm>
          <a:prstGeom prst="rect">
            <a:avLst/>
          </a:prstGeom>
          <a:solidFill>
            <a:srgbClr val="F47B20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Shape 2"/>
          <p:cNvSpPr/>
          <p:nvPr/>
        </p:nvSpPr>
        <p:spPr>
          <a:xfrm>
            <a:off x="9985248" y="411480"/>
            <a:ext cx="1874520" cy="338328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Text 3"/>
          <p:cNvSpPr/>
          <p:nvPr/>
        </p:nvSpPr>
        <p:spPr>
          <a:xfrm>
            <a:off x="8887968" y="4846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0076688" y="48463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CTI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1170432"/>
            <a:ext cx="11411712" cy="429768"/>
          </a:xfrm>
          <a:prstGeom prst="rect">
            <a:avLst/>
          </a:prstGeom>
          <a:solidFill>
            <a:srgbClr val="5DA2D7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6"/>
          <p:cNvSpPr/>
          <p:nvPr/>
        </p:nvSpPr>
        <p:spPr>
          <a:xfrm>
            <a:off x="566928" y="1298448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Executive Posture &amp; Threat Visualisation Release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0360152" y="126187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</a:rPr>
              <a:t>Q3 2026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57200" y="1600200"/>
            <a:ext cx="11411712" cy="292608"/>
          </a:xfrm>
          <a:prstGeom prst="rect">
            <a:avLst/>
          </a:prstGeom>
          <a:solidFill>
            <a:srgbClr val="EDEDED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Text 9"/>
          <p:cNvSpPr/>
          <p:nvPr/>
        </p:nvSpPr>
        <p:spPr>
          <a:xfrm>
            <a:off x="548640" y="1691640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Description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457200" y="1892808"/>
            <a:ext cx="11411712" cy="914400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Text 11"/>
          <p:cNvSpPr/>
          <p:nvPr/>
        </p:nvSpPr>
        <p:spPr>
          <a:xfrm>
            <a:off x="548640" y="2011680"/>
            <a:ext cx="1109167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Productise the leadership dashboard and threat visualisation workspace into a coherent executive review experience for posture, sector risk, threat maps, and correlation graph exploration.</a:t>
            </a:r>
            <a:endParaRPr lang="en-US" sz="920" dirty="0"/>
          </a:p>
        </p:txBody>
      </p:sp>
      <p:sp>
        <p:nvSpPr>
          <p:cNvPr id="16" name="Shape 12"/>
          <p:cNvSpPr/>
          <p:nvPr/>
        </p:nvSpPr>
        <p:spPr>
          <a:xfrm>
            <a:off x="457200" y="2807208"/>
            <a:ext cx="2651760" cy="530352"/>
          </a:xfrm>
          <a:prstGeom prst="rect">
            <a:avLst/>
          </a:prstGeom>
          <a:solidFill>
            <a:srgbClr val="D9D9D9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3"/>
          <p:cNvSpPr/>
          <p:nvPr/>
        </p:nvSpPr>
        <p:spPr>
          <a:xfrm>
            <a:off x="685800" y="299008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◷  Estimated duration</a:t>
            </a:r>
            <a:endParaRPr lang="en-US" sz="840" dirty="0"/>
          </a:p>
        </p:txBody>
      </p:sp>
      <p:sp>
        <p:nvSpPr>
          <p:cNvPr id="18" name="Shape 14"/>
          <p:cNvSpPr/>
          <p:nvPr/>
        </p:nvSpPr>
        <p:spPr>
          <a:xfrm>
            <a:off x="3108960" y="2807208"/>
            <a:ext cx="3931920" cy="530352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Text 15"/>
          <p:cNvSpPr/>
          <p:nvPr/>
        </p:nvSpPr>
        <p:spPr>
          <a:xfrm>
            <a:off x="3246120" y="3008376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6–8 weeks</a:t>
            </a:r>
            <a:endParaRPr lang="en-US" sz="860" dirty="0"/>
          </a:p>
        </p:txBody>
      </p:sp>
      <p:sp>
        <p:nvSpPr>
          <p:cNvPr id="20" name="Shape 16"/>
          <p:cNvSpPr/>
          <p:nvPr/>
        </p:nvSpPr>
        <p:spPr>
          <a:xfrm>
            <a:off x="7040880" y="2807208"/>
            <a:ext cx="2249424" cy="530352"/>
          </a:xfrm>
          <a:prstGeom prst="rect">
            <a:avLst/>
          </a:prstGeom>
          <a:solidFill>
            <a:srgbClr val="D9D9D9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Text 17"/>
          <p:cNvSpPr/>
          <p:nvPr/>
        </p:nvSpPr>
        <p:spPr>
          <a:xfrm>
            <a:off x="7269480" y="299008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⚙  Estimate effort</a:t>
            </a:r>
            <a:endParaRPr lang="en-US" sz="840" dirty="0"/>
          </a:p>
        </p:txBody>
      </p:sp>
      <p:sp>
        <p:nvSpPr>
          <p:cNvPr id="22" name="Shape 18"/>
          <p:cNvSpPr/>
          <p:nvPr/>
        </p:nvSpPr>
        <p:spPr>
          <a:xfrm>
            <a:off x="9290304" y="2807208"/>
            <a:ext cx="2578608" cy="530352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" name="Text 19"/>
          <p:cNvSpPr/>
          <p:nvPr/>
        </p:nvSpPr>
        <p:spPr>
          <a:xfrm>
            <a:off x="9418320" y="3008376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FTEs</a:t>
            </a:r>
            <a:endParaRPr lang="en-US" sz="860" dirty="0"/>
          </a:p>
        </p:txBody>
      </p:sp>
      <p:sp>
        <p:nvSpPr>
          <p:cNvPr id="24" name="Shape 20"/>
          <p:cNvSpPr/>
          <p:nvPr/>
        </p:nvSpPr>
        <p:spPr>
          <a:xfrm>
            <a:off x="457200" y="3337560"/>
            <a:ext cx="2651760" cy="502920"/>
          </a:xfrm>
          <a:prstGeom prst="rect">
            <a:avLst/>
          </a:prstGeom>
          <a:solidFill>
            <a:srgbClr val="D9D9D9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" name="Text 21"/>
          <p:cNvSpPr/>
          <p:nvPr/>
        </p:nvSpPr>
        <p:spPr>
          <a:xfrm>
            <a:off x="685800" y="351129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🔗  Project dependencies</a:t>
            </a:r>
            <a:endParaRPr lang="en-US" sz="840" dirty="0"/>
          </a:p>
        </p:txBody>
      </p:sp>
      <p:sp>
        <p:nvSpPr>
          <p:cNvPr id="26" name="Shape 22"/>
          <p:cNvSpPr/>
          <p:nvPr/>
        </p:nvSpPr>
        <p:spPr>
          <a:xfrm>
            <a:off x="3108960" y="3337560"/>
            <a:ext cx="8759952" cy="502920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" name="Text 23"/>
          <p:cNvSpPr/>
          <p:nvPr/>
        </p:nvSpPr>
        <p:spPr>
          <a:xfrm>
            <a:off x="3246120" y="3511296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v3.0 dashboard widgets, threat map, threat graph</a:t>
            </a:r>
            <a:endParaRPr lang="en-US" sz="860" dirty="0"/>
          </a:p>
        </p:txBody>
      </p:sp>
      <p:sp>
        <p:nvSpPr>
          <p:cNvPr id="28" name="Shape 24"/>
          <p:cNvSpPr/>
          <p:nvPr/>
        </p:nvSpPr>
        <p:spPr>
          <a:xfrm>
            <a:off x="457200" y="3840480"/>
            <a:ext cx="11411712" cy="475488"/>
          </a:xfrm>
          <a:prstGeom prst="rect">
            <a:avLst/>
          </a:prstGeom>
          <a:solidFill>
            <a:srgbClr val="D9D9D9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9" name="Text 25"/>
          <p:cNvSpPr/>
          <p:nvPr/>
        </p:nvSpPr>
        <p:spPr>
          <a:xfrm>
            <a:off x="685800" y="401421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▣  Key Deliverables</a:t>
            </a:r>
            <a:endParaRPr lang="en-US" sz="840" dirty="0"/>
          </a:p>
        </p:txBody>
      </p:sp>
      <p:sp>
        <p:nvSpPr>
          <p:cNvPr id="30" name="Shape 26"/>
          <p:cNvSpPr/>
          <p:nvPr/>
        </p:nvSpPr>
        <p:spPr>
          <a:xfrm>
            <a:off x="457200" y="4315968"/>
            <a:ext cx="5705856" cy="1627632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" name="Shape 27"/>
          <p:cNvSpPr/>
          <p:nvPr/>
        </p:nvSpPr>
        <p:spPr>
          <a:xfrm>
            <a:off x="6163056" y="4315968"/>
            <a:ext cx="5705856" cy="1627632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" name="Text 28"/>
          <p:cNvSpPr/>
          <p:nvPr/>
        </p:nvSpPr>
        <p:spPr>
          <a:xfrm>
            <a:off x="566928" y="4407408"/>
            <a:ext cx="5477256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review cockpit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Posture score narrative and metric grid rationalisation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30-day ingest and score movement highlights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Org/sector breakdown prepared for monthly posture review</a:t>
            </a:r>
            <a:endParaRPr lang="en-US" sz="840" dirty="0"/>
          </a:p>
        </p:txBody>
      </p:sp>
      <p:sp>
        <p:nvSpPr>
          <p:cNvPr id="33" name="Text 29"/>
          <p:cNvSpPr/>
          <p:nvPr/>
        </p:nvSpPr>
        <p:spPr>
          <a:xfrm>
            <a:off x="6272784" y="4407408"/>
            <a:ext cx="5477256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intelligence workspace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Unified map/graph filters for severity, type, country, and sector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Campaign-level drill-down from markers and graph nodes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Export-ready screenshots and briefing notes</a:t>
            </a:r>
            <a:endParaRPr lang="en-US" sz="8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DE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502920" y="4114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cards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8796528" y="411480"/>
            <a:ext cx="1188720" cy="338328"/>
          </a:xfrm>
          <a:prstGeom prst="rect">
            <a:avLst/>
          </a:prstGeom>
          <a:solidFill>
            <a:srgbClr val="F47B20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Shape 2"/>
          <p:cNvSpPr/>
          <p:nvPr/>
        </p:nvSpPr>
        <p:spPr>
          <a:xfrm>
            <a:off x="9985248" y="411480"/>
            <a:ext cx="1874520" cy="338328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Text 3"/>
          <p:cNvSpPr/>
          <p:nvPr/>
        </p:nvSpPr>
        <p:spPr>
          <a:xfrm>
            <a:off x="8887968" y="4846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0076688" y="48463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CTI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1170432"/>
            <a:ext cx="11411712" cy="429768"/>
          </a:xfrm>
          <a:prstGeom prst="rect">
            <a:avLst/>
          </a:prstGeom>
          <a:solidFill>
            <a:srgbClr val="5DA2D7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6"/>
          <p:cNvSpPr/>
          <p:nvPr/>
        </p:nvSpPr>
        <p:spPr>
          <a:xfrm>
            <a:off x="566928" y="1298448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Feed Quality, Provenance &amp; Integration Pack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0360152" y="126187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</a:rPr>
              <a:t>Q3 2026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57200" y="1600200"/>
            <a:ext cx="11411712" cy="292608"/>
          </a:xfrm>
          <a:prstGeom prst="rect">
            <a:avLst/>
          </a:prstGeom>
          <a:solidFill>
            <a:srgbClr val="EDEDED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Text 9"/>
          <p:cNvSpPr/>
          <p:nvPr/>
        </p:nvSpPr>
        <p:spPr>
          <a:xfrm>
            <a:off x="548640" y="1691640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Description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457200" y="1892808"/>
            <a:ext cx="11411712" cy="914400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Text 11"/>
          <p:cNvSpPr/>
          <p:nvPr/>
        </p:nvSpPr>
        <p:spPr>
          <a:xfrm>
            <a:off x="548640" y="2011680"/>
            <a:ext cx="1109167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Improve reliability and transparency of feed onboarding by formalising feed health, provenance, STIX/TAXII handling, Logstash bridge mapping, and external push-ingestion governance.</a:t>
            </a:r>
            <a:endParaRPr lang="en-US" sz="920" dirty="0"/>
          </a:p>
        </p:txBody>
      </p:sp>
      <p:sp>
        <p:nvSpPr>
          <p:cNvPr id="16" name="Shape 12"/>
          <p:cNvSpPr/>
          <p:nvPr/>
        </p:nvSpPr>
        <p:spPr>
          <a:xfrm>
            <a:off x="457200" y="2807208"/>
            <a:ext cx="2651760" cy="530352"/>
          </a:xfrm>
          <a:prstGeom prst="rect">
            <a:avLst/>
          </a:prstGeom>
          <a:solidFill>
            <a:srgbClr val="D9D9D9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3"/>
          <p:cNvSpPr/>
          <p:nvPr/>
        </p:nvSpPr>
        <p:spPr>
          <a:xfrm>
            <a:off x="685800" y="299008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◷  Estimated duration</a:t>
            </a:r>
            <a:endParaRPr lang="en-US" sz="840" dirty="0"/>
          </a:p>
        </p:txBody>
      </p:sp>
      <p:sp>
        <p:nvSpPr>
          <p:cNvPr id="18" name="Shape 14"/>
          <p:cNvSpPr/>
          <p:nvPr/>
        </p:nvSpPr>
        <p:spPr>
          <a:xfrm>
            <a:off x="3108960" y="2807208"/>
            <a:ext cx="3931920" cy="530352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Text 15"/>
          <p:cNvSpPr/>
          <p:nvPr/>
        </p:nvSpPr>
        <p:spPr>
          <a:xfrm>
            <a:off x="3246120" y="3008376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8–10 weeks</a:t>
            </a:r>
            <a:endParaRPr lang="en-US" sz="860" dirty="0"/>
          </a:p>
        </p:txBody>
      </p:sp>
      <p:sp>
        <p:nvSpPr>
          <p:cNvPr id="20" name="Shape 16"/>
          <p:cNvSpPr/>
          <p:nvPr/>
        </p:nvSpPr>
        <p:spPr>
          <a:xfrm>
            <a:off x="7040880" y="2807208"/>
            <a:ext cx="2249424" cy="530352"/>
          </a:xfrm>
          <a:prstGeom prst="rect">
            <a:avLst/>
          </a:prstGeom>
          <a:solidFill>
            <a:srgbClr val="D9D9D9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Text 17"/>
          <p:cNvSpPr/>
          <p:nvPr/>
        </p:nvSpPr>
        <p:spPr>
          <a:xfrm>
            <a:off x="7269480" y="299008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⚙  Estimate effort</a:t>
            </a:r>
            <a:endParaRPr lang="en-US" sz="840" dirty="0"/>
          </a:p>
        </p:txBody>
      </p:sp>
      <p:sp>
        <p:nvSpPr>
          <p:cNvPr id="22" name="Shape 18"/>
          <p:cNvSpPr/>
          <p:nvPr/>
        </p:nvSpPr>
        <p:spPr>
          <a:xfrm>
            <a:off x="9290304" y="2807208"/>
            <a:ext cx="2578608" cy="530352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" name="Text 19"/>
          <p:cNvSpPr/>
          <p:nvPr/>
        </p:nvSpPr>
        <p:spPr>
          <a:xfrm>
            <a:off x="9418320" y="3008376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FTEs</a:t>
            </a:r>
            <a:endParaRPr lang="en-US" sz="860" dirty="0"/>
          </a:p>
        </p:txBody>
      </p:sp>
      <p:sp>
        <p:nvSpPr>
          <p:cNvPr id="24" name="Shape 20"/>
          <p:cNvSpPr/>
          <p:nvPr/>
        </p:nvSpPr>
        <p:spPr>
          <a:xfrm>
            <a:off x="457200" y="3337560"/>
            <a:ext cx="2651760" cy="502920"/>
          </a:xfrm>
          <a:prstGeom prst="rect">
            <a:avLst/>
          </a:prstGeom>
          <a:solidFill>
            <a:srgbClr val="D9D9D9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" name="Text 21"/>
          <p:cNvSpPr/>
          <p:nvPr/>
        </p:nvSpPr>
        <p:spPr>
          <a:xfrm>
            <a:off x="685800" y="351129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🔗  Project dependencies</a:t>
            </a:r>
            <a:endParaRPr lang="en-US" sz="840" dirty="0"/>
          </a:p>
        </p:txBody>
      </p:sp>
      <p:sp>
        <p:nvSpPr>
          <p:cNvPr id="26" name="Shape 22"/>
          <p:cNvSpPr/>
          <p:nvPr/>
        </p:nvSpPr>
        <p:spPr>
          <a:xfrm>
            <a:off x="3108960" y="3337560"/>
            <a:ext cx="8759952" cy="502920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" name="Text 23"/>
          <p:cNvSpPr/>
          <p:nvPr/>
        </p:nvSpPr>
        <p:spPr>
          <a:xfrm>
            <a:off x="3246120" y="3511296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 feed registry; push ingestion API; scheduler ledger</a:t>
            </a:r>
            <a:endParaRPr lang="en-US" sz="860" dirty="0"/>
          </a:p>
        </p:txBody>
      </p:sp>
      <p:sp>
        <p:nvSpPr>
          <p:cNvPr id="28" name="Shape 24"/>
          <p:cNvSpPr/>
          <p:nvPr/>
        </p:nvSpPr>
        <p:spPr>
          <a:xfrm>
            <a:off x="457200" y="3840480"/>
            <a:ext cx="11411712" cy="475488"/>
          </a:xfrm>
          <a:prstGeom prst="rect">
            <a:avLst/>
          </a:prstGeom>
          <a:solidFill>
            <a:srgbClr val="D9D9D9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9" name="Text 25"/>
          <p:cNvSpPr/>
          <p:nvPr/>
        </p:nvSpPr>
        <p:spPr>
          <a:xfrm>
            <a:off x="685800" y="401421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▣  Key Deliverables</a:t>
            </a:r>
            <a:endParaRPr lang="en-US" sz="840" dirty="0"/>
          </a:p>
        </p:txBody>
      </p:sp>
      <p:sp>
        <p:nvSpPr>
          <p:cNvPr id="30" name="Shape 26"/>
          <p:cNvSpPr/>
          <p:nvPr/>
        </p:nvSpPr>
        <p:spPr>
          <a:xfrm>
            <a:off x="457200" y="4315968"/>
            <a:ext cx="5705856" cy="1627632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" name="Shape 27"/>
          <p:cNvSpPr/>
          <p:nvPr/>
        </p:nvSpPr>
        <p:spPr>
          <a:xfrm>
            <a:off x="6163056" y="4315968"/>
            <a:ext cx="5705856" cy="1627632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" name="Text 28"/>
          <p:cNvSpPr/>
          <p:nvPr/>
        </p:nvSpPr>
        <p:spPr>
          <a:xfrm>
            <a:off x="566928" y="4407408"/>
            <a:ext cx="5477256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 onboarding standards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Configuration template for STIX/TAXII, REST JSON, CSV, Logstash, and push API feeds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Per-feed health scoring and failure triage workflow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Provenance checks for every indicator</a:t>
            </a:r>
            <a:endParaRPr lang="en-US" sz="840" dirty="0"/>
          </a:p>
        </p:txBody>
      </p:sp>
      <p:sp>
        <p:nvSpPr>
          <p:cNvPr id="33" name="Text 29"/>
          <p:cNvSpPr/>
          <p:nvPr/>
        </p:nvSpPr>
        <p:spPr>
          <a:xfrm>
            <a:off x="6272784" y="4407408"/>
            <a:ext cx="5477256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quality controls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Deduplication and validation dashboard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Backfill process for geo-enrichment and CVE recognition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Integration guide for external feed operators</a:t>
            </a:r>
            <a:endParaRPr lang="en-US" sz="8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DE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502920" y="4114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cards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8796528" y="411480"/>
            <a:ext cx="1188720" cy="338328"/>
          </a:xfrm>
          <a:prstGeom prst="rect">
            <a:avLst/>
          </a:prstGeom>
          <a:solidFill>
            <a:srgbClr val="F47B20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Shape 2"/>
          <p:cNvSpPr/>
          <p:nvPr/>
        </p:nvSpPr>
        <p:spPr>
          <a:xfrm>
            <a:off x="9985248" y="411480"/>
            <a:ext cx="1874520" cy="338328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Text 3"/>
          <p:cNvSpPr/>
          <p:nvPr/>
        </p:nvSpPr>
        <p:spPr>
          <a:xfrm>
            <a:off x="8887968" y="4846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0076688" y="48463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CTI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1170432"/>
            <a:ext cx="11411712" cy="429768"/>
          </a:xfrm>
          <a:prstGeom prst="rect">
            <a:avLst/>
          </a:prstGeom>
          <a:solidFill>
            <a:srgbClr val="5DA2D7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6"/>
          <p:cNvSpPr/>
          <p:nvPr/>
        </p:nvSpPr>
        <p:spPr>
          <a:xfrm>
            <a:off x="566928" y="1298448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Enterprise Identity, MFA &amp; Access Assurance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0360152" y="126187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</a:rPr>
              <a:t>Q4 2026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57200" y="1600200"/>
            <a:ext cx="11411712" cy="292608"/>
          </a:xfrm>
          <a:prstGeom prst="rect">
            <a:avLst/>
          </a:prstGeom>
          <a:solidFill>
            <a:srgbClr val="EDEDED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Text 9"/>
          <p:cNvSpPr/>
          <p:nvPr/>
        </p:nvSpPr>
        <p:spPr>
          <a:xfrm>
            <a:off x="548640" y="1691640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Description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457200" y="1892808"/>
            <a:ext cx="11411712" cy="914400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Text 11"/>
          <p:cNvSpPr/>
          <p:nvPr/>
        </p:nvSpPr>
        <p:spPr>
          <a:xfrm>
            <a:off x="548640" y="2011680"/>
            <a:ext cx="1109167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sz="920">
                <a:solidFill>
                  <a:srgbClr val="000000"/>
                </a:solidFill>
                <a:latin typeface="Aptos"/>
              </a:rPr>
              <a:t>•  Extend MVP role-based access with enterprise identity controls, SSO/MFA readiness, access reviews, and classification-compartment governance suited to Malaysian government deployment.</a:t>
            </a:r>
            <a:endParaRPr lang="en-US" sz="920" dirty="0"/>
          </a:p>
        </p:txBody>
      </p:sp>
      <p:sp>
        <p:nvSpPr>
          <p:cNvPr id="16" name="Shape 12"/>
          <p:cNvSpPr/>
          <p:nvPr/>
        </p:nvSpPr>
        <p:spPr>
          <a:xfrm>
            <a:off x="457200" y="2807208"/>
            <a:ext cx="2651760" cy="530352"/>
          </a:xfrm>
          <a:prstGeom prst="rect">
            <a:avLst/>
          </a:prstGeom>
          <a:solidFill>
            <a:srgbClr val="D9D9D9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3"/>
          <p:cNvSpPr/>
          <p:nvPr/>
        </p:nvSpPr>
        <p:spPr>
          <a:xfrm>
            <a:off x="685800" y="299008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◷  Estimated duration</a:t>
            </a:r>
            <a:endParaRPr lang="en-US" sz="840" dirty="0"/>
          </a:p>
        </p:txBody>
      </p:sp>
      <p:sp>
        <p:nvSpPr>
          <p:cNvPr id="18" name="Shape 14"/>
          <p:cNvSpPr/>
          <p:nvPr/>
        </p:nvSpPr>
        <p:spPr>
          <a:xfrm>
            <a:off x="3108960" y="2807208"/>
            <a:ext cx="3931920" cy="530352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Text 15"/>
          <p:cNvSpPr/>
          <p:nvPr/>
        </p:nvSpPr>
        <p:spPr>
          <a:xfrm>
            <a:off x="3246120" y="3008376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10–12 weeks</a:t>
            </a:r>
            <a:endParaRPr lang="en-US" sz="860" dirty="0"/>
          </a:p>
        </p:txBody>
      </p:sp>
      <p:sp>
        <p:nvSpPr>
          <p:cNvPr id="20" name="Shape 16"/>
          <p:cNvSpPr/>
          <p:nvPr/>
        </p:nvSpPr>
        <p:spPr>
          <a:xfrm>
            <a:off x="7040880" y="2807208"/>
            <a:ext cx="2249424" cy="530352"/>
          </a:xfrm>
          <a:prstGeom prst="rect">
            <a:avLst/>
          </a:prstGeom>
          <a:solidFill>
            <a:srgbClr val="D9D9D9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Text 17"/>
          <p:cNvSpPr/>
          <p:nvPr/>
        </p:nvSpPr>
        <p:spPr>
          <a:xfrm>
            <a:off x="7269480" y="299008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⚙  Estimate effort</a:t>
            </a:r>
            <a:endParaRPr lang="en-US" sz="840" dirty="0"/>
          </a:p>
        </p:txBody>
      </p:sp>
      <p:sp>
        <p:nvSpPr>
          <p:cNvPr id="22" name="Shape 18"/>
          <p:cNvSpPr/>
          <p:nvPr/>
        </p:nvSpPr>
        <p:spPr>
          <a:xfrm>
            <a:off x="9290304" y="2807208"/>
            <a:ext cx="2578608" cy="530352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" name="Text 19"/>
          <p:cNvSpPr/>
          <p:nvPr/>
        </p:nvSpPr>
        <p:spPr>
          <a:xfrm>
            <a:off x="9418320" y="3008376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860">
                <a:solidFill>
                  <a:srgbClr val="000000"/>
                </a:solidFill>
                <a:latin typeface="Aptos"/>
              </a:rPr>
              <a:t>2 FTEs</a:t>
            </a:r>
            <a:endParaRPr lang="en-US" sz="860" dirty="0"/>
          </a:p>
        </p:txBody>
      </p:sp>
      <p:sp>
        <p:nvSpPr>
          <p:cNvPr id="24" name="Shape 20"/>
          <p:cNvSpPr/>
          <p:nvPr/>
        </p:nvSpPr>
        <p:spPr>
          <a:xfrm>
            <a:off x="457200" y="3337560"/>
            <a:ext cx="2651760" cy="502920"/>
          </a:xfrm>
          <a:prstGeom prst="rect">
            <a:avLst/>
          </a:prstGeom>
          <a:solidFill>
            <a:srgbClr val="D9D9D9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" name="Text 21"/>
          <p:cNvSpPr/>
          <p:nvPr/>
        </p:nvSpPr>
        <p:spPr>
          <a:xfrm>
            <a:off x="685800" y="351129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🔗  Project dependencies</a:t>
            </a:r>
            <a:endParaRPr lang="en-US" sz="840" dirty="0"/>
          </a:p>
        </p:txBody>
      </p:sp>
      <p:sp>
        <p:nvSpPr>
          <p:cNvPr id="26" name="Shape 22"/>
          <p:cNvSpPr/>
          <p:nvPr/>
        </p:nvSpPr>
        <p:spPr>
          <a:xfrm>
            <a:off x="3108960" y="3337560"/>
            <a:ext cx="8759952" cy="502920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" name="Text 23"/>
          <p:cNvSpPr/>
          <p:nvPr/>
        </p:nvSpPr>
        <p:spPr>
          <a:xfrm>
            <a:off x="3246120" y="3511296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RBAC hierarchy; classification and compartment model</a:t>
            </a:r>
            <a:endParaRPr lang="en-US" sz="860" dirty="0"/>
          </a:p>
        </p:txBody>
      </p:sp>
      <p:sp>
        <p:nvSpPr>
          <p:cNvPr id="28" name="Shape 24"/>
          <p:cNvSpPr/>
          <p:nvPr/>
        </p:nvSpPr>
        <p:spPr>
          <a:xfrm>
            <a:off x="457200" y="3840480"/>
            <a:ext cx="11411712" cy="475488"/>
          </a:xfrm>
          <a:prstGeom prst="rect">
            <a:avLst/>
          </a:prstGeom>
          <a:solidFill>
            <a:srgbClr val="D9D9D9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9" name="Text 25"/>
          <p:cNvSpPr/>
          <p:nvPr/>
        </p:nvSpPr>
        <p:spPr>
          <a:xfrm>
            <a:off x="685800" y="401421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▣  Key Deliverables</a:t>
            </a:r>
            <a:endParaRPr lang="en-US" sz="840" dirty="0"/>
          </a:p>
        </p:txBody>
      </p:sp>
      <p:sp>
        <p:nvSpPr>
          <p:cNvPr id="30" name="Shape 26"/>
          <p:cNvSpPr/>
          <p:nvPr/>
        </p:nvSpPr>
        <p:spPr>
          <a:xfrm>
            <a:off x="457200" y="4315968"/>
            <a:ext cx="5705856" cy="1627632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" name="Shape 27"/>
          <p:cNvSpPr/>
          <p:nvPr/>
        </p:nvSpPr>
        <p:spPr>
          <a:xfrm>
            <a:off x="6163056" y="4315968"/>
            <a:ext cx="5705856" cy="1627632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" name="Text 28"/>
          <p:cNvSpPr/>
          <p:nvPr/>
        </p:nvSpPr>
        <p:spPr>
          <a:xfrm>
            <a:off x="566928" y="4407408"/>
            <a:ext cx="5477256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integration foundation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SAML/OIDC SSO design and connector prototype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MFA policy and privileged-access enforcement model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Password and session policy alignment</a:t>
            </a:r>
            <a:endParaRPr lang="en-US" sz="840" dirty="0"/>
          </a:p>
        </p:txBody>
      </p:sp>
      <p:sp>
        <p:nvSpPr>
          <p:cNvPr id="33" name="Text 29"/>
          <p:cNvSpPr/>
          <p:nvPr/>
        </p:nvSpPr>
        <p:spPr>
          <a:xfrm>
            <a:off x="6272784" y="4407408"/>
            <a:ext cx="5477256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assurance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Quarterly role and compartment review workflow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Sensitive-operation audit dashboards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Exception and break-glass access process</a:t>
            </a:r>
            <a:endParaRPr lang="en-US" sz="8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DE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502920" y="4114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cards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8796528" y="411480"/>
            <a:ext cx="1188720" cy="338328"/>
          </a:xfrm>
          <a:prstGeom prst="rect">
            <a:avLst/>
          </a:prstGeom>
          <a:solidFill>
            <a:srgbClr val="F47B20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Shape 2"/>
          <p:cNvSpPr/>
          <p:nvPr/>
        </p:nvSpPr>
        <p:spPr>
          <a:xfrm>
            <a:off x="9985248" y="411480"/>
            <a:ext cx="1874520" cy="338328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Text 3"/>
          <p:cNvSpPr/>
          <p:nvPr/>
        </p:nvSpPr>
        <p:spPr>
          <a:xfrm>
            <a:off x="8887968" y="4846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0076688" y="48463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CTI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1170432"/>
            <a:ext cx="11411712" cy="429768"/>
          </a:xfrm>
          <a:prstGeom prst="rect">
            <a:avLst/>
          </a:prstGeom>
          <a:solidFill>
            <a:srgbClr val="5DA2D7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6"/>
          <p:cNvSpPr/>
          <p:nvPr/>
        </p:nvSpPr>
        <p:spPr>
          <a:xfrm>
            <a:off x="566928" y="1298448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sz="1200" b="1">
                <a:solidFill>
                  <a:srgbClr val="000000"/>
                </a:solidFill>
                <a:latin typeface="Aptos"/>
              </a:rPr>
              <a:t>5. SIEM &amp; Ticketing Integration Blueprint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0360152" y="126187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</a:rPr>
              <a:t>Q4 2026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57200" y="1600200"/>
            <a:ext cx="11411712" cy="292608"/>
          </a:xfrm>
          <a:prstGeom prst="rect">
            <a:avLst/>
          </a:prstGeom>
          <a:solidFill>
            <a:srgbClr val="EDEDED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Text 9"/>
          <p:cNvSpPr/>
          <p:nvPr/>
        </p:nvSpPr>
        <p:spPr>
          <a:xfrm>
            <a:off x="548640" y="1691640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Description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457200" y="1892808"/>
            <a:ext cx="11411712" cy="914400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Text 11"/>
          <p:cNvSpPr/>
          <p:nvPr/>
        </p:nvSpPr>
        <p:spPr>
          <a:xfrm>
            <a:off x="548640" y="2011680"/>
            <a:ext cx="1109167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sz="920">
                <a:solidFill>
                  <a:srgbClr val="000000"/>
                </a:solidFill>
                <a:latin typeface="Aptos"/>
              </a:rPr>
              <a:t>•  Design the integration architecture for SOC tooling through bidirectional SIEM interfaces and remediation-ticket workflows, producing a blueprint and connector prototypes, not full integration.</a:t>
            </a:r>
            <a:endParaRPr lang="en-US" sz="920" dirty="0"/>
          </a:p>
        </p:txBody>
      </p:sp>
      <p:sp>
        <p:nvSpPr>
          <p:cNvPr id="16" name="Shape 12"/>
          <p:cNvSpPr/>
          <p:nvPr/>
        </p:nvSpPr>
        <p:spPr>
          <a:xfrm>
            <a:off x="457200" y="2807208"/>
            <a:ext cx="2651760" cy="530352"/>
          </a:xfrm>
          <a:prstGeom prst="rect">
            <a:avLst/>
          </a:prstGeom>
          <a:solidFill>
            <a:srgbClr val="D9D9D9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3"/>
          <p:cNvSpPr/>
          <p:nvPr/>
        </p:nvSpPr>
        <p:spPr>
          <a:xfrm>
            <a:off x="685800" y="299008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◷  Estimated duration</a:t>
            </a:r>
            <a:endParaRPr lang="en-US" sz="840" dirty="0"/>
          </a:p>
        </p:txBody>
      </p:sp>
      <p:sp>
        <p:nvSpPr>
          <p:cNvPr id="18" name="Shape 14"/>
          <p:cNvSpPr/>
          <p:nvPr/>
        </p:nvSpPr>
        <p:spPr>
          <a:xfrm>
            <a:off x="3108960" y="2807208"/>
            <a:ext cx="3931920" cy="530352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Text 15"/>
          <p:cNvSpPr/>
          <p:nvPr/>
        </p:nvSpPr>
        <p:spPr>
          <a:xfrm>
            <a:off x="3246120" y="3008376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860">
                <a:solidFill>
                  <a:srgbClr val="000000"/>
                </a:solidFill>
                <a:latin typeface="Aptos"/>
              </a:rPr>
              <a:t>8–10 weeks</a:t>
            </a:r>
            <a:endParaRPr lang="en-US" sz="860" dirty="0"/>
          </a:p>
        </p:txBody>
      </p:sp>
      <p:sp>
        <p:nvSpPr>
          <p:cNvPr id="20" name="Shape 16"/>
          <p:cNvSpPr/>
          <p:nvPr/>
        </p:nvSpPr>
        <p:spPr>
          <a:xfrm>
            <a:off x="7040880" y="2807208"/>
            <a:ext cx="2249424" cy="530352"/>
          </a:xfrm>
          <a:prstGeom prst="rect">
            <a:avLst/>
          </a:prstGeom>
          <a:solidFill>
            <a:srgbClr val="D9D9D9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Text 17"/>
          <p:cNvSpPr/>
          <p:nvPr/>
        </p:nvSpPr>
        <p:spPr>
          <a:xfrm>
            <a:off x="7269480" y="299008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⚙  Estimate effort</a:t>
            </a:r>
            <a:endParaRPr lang="en-US" sz="840" dirty="0"/>
          </a:p>
        </p:txBody>
      </p:sp>
      <p:sp>
        <p:nvSpPr>
          <p:cNvPr id="22" name="Shape 18"/>
          <p:cNvSpPr/>
          <p:nvPr/>
        </p:nvSpPr>
        <p:spPr>
          <a:xfrm>
            <a:off x="9290304" y="2807208"/>
            <a:ext cx="2578608" cy="530352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" name="Text 19"/>
          <p:cNvSpPr/>
          <p:nvPr/>
        </p:nvSpPr>
        <p:spPr>
          <a:xfrm>
            <a:off x="9418320" y="3008376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860">
                <a:solidFill>
                  <a:srgbClr val="000000"/>
                </a:solidFill>
                <a:latin typeface="Aptos"/>
              </a:rPr>
              <a:t>1 FTE</a:t>
            </a:r>
            <a:endParaRPr lang="en-US" sz="860" dirty="0"/>
          </a:p>
        </p:txBody>
      </p:sp>
      <p:sp>
        <p:nvSpPr>
          <p:cNvPr id="24" name="Shape 20"/>
          <p:cNvSpPr/>
          <p:nvPr/>
        </p:nvSpPr>
        <p:spPr>
          <a:xfrm>
            <a:off x="457200" y="3337560"/>
            <a:ext cx="2651760" cy="502920"/>
          </a:xfrm>
          <a:prstGeom prst="rect">
            <a:avLst/>
          </a:prstGeom>
          <a:solidFill>
            <a:srgbClr val="D9D9D9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" name="Text 21"/>
          <p:cNvSpPr/>
          <p:nvPr/>
        </p:nvSpPr>
        <p:spPr>
          <a:xfrm>
            <a:off x="685800" y="351129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🔗  Project dependencies</a:t>
            </a:r>
            <a:endParaRPr lang="en-US" sz="840" dirty="0"/>
          </a:p>
        </p:txBody>
      </p:sp>
      <p:sp>
        <p:nvSpPr>
          <p:cNvPr id="26" name="Shape 22"/>
          <p:cNvSpPr/>
          <p:nvPr/>
        </p:nvSpPr>
        <p:spPr>
          <a:xfrm>
            <a:off x="3108960" y="3337560"/>
            <a:ext cx="8759952" cy="502920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" name="Text 23"/>
          <p:cNvSpPr/>
          <p:nvPr/>
        </p:nvSpPr>
        <p:spPr>
          <a:xfrm>
            <a:off x="3246120" y="3511296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reference; Logstash ECS bridge; alert/case lifecycle</a:t>
            </a:r>
            <a:endParaRPr lang="en-US" sz="860" dirty="0"/>
          </a:p>
        </p:txBody>
      </p:sp>
      <p:sp>
        <p:nvSpPr>
          <p:cNvPr id="28" name="Shape 24"/>
          <p:cNvSpPr/>
          <p:nvPr/>
        </p:nvSpPr>
        <p:spPr>
          <a:xfrm>
            <a:off x="457200" y="3840480"/>
            <a:ext cx="11411712" cy="475488"/>
          </a:xfrm>
          <a:prstGeom prst="rect">
            <a:avLst/>
          </a:prstGeom>
          <a:solidFill>
            <a:srgbClr val="D9D9D9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9" name="Text 25"/>
          <p:cNvSpPr/>
          <p:nvPr/>
        </p:nvSpPr>
        <p:spPr>
          <a:xfrm>
            <a:off x="685800" y="401421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▣  Key Deliverables</a:t>
            </a:r>
            <a:endParaRPr lang="en-US" sz="840" dirty="0"/>
          </a:p>
        </p:txBody>
      </p:sp>
      <p:sp>
        <p:nvSpPr>
          <p:cNvPr id="30" name="Shape 26"/>
          <p:cNvSpPr/>
          <p:nvPr/>
        </p:nvSpPr>
        <p:spPr>
          <a:xfrm>
            <a:off x="457200" y="4315968"/>
            <a:ext cx="5705856" cy="1627632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" name="Shape 27"/>
          <p:cNvSpPr/>
          <p:nvPr/>
        </p:nvSpPr>
        <p:spPr>
          <a:xfrm>
            <a:off x="6163056" y="4315968"/>
            <a:ext cx="5705856" cy="1627632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" name="Text 28"/>
          <p:cNvSpPr/>
          <p:nvPr/>
        </p:nvSpPr>
        <p:spPr>
          <a:xfrm>
            <a:off x="566928" y="4407408"/>
            <a:ext cx="5477256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SIEM integration blueprint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Connector design for Splunk and Microsoft Sentinel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Alert/evidence mapping to GovSec indicators, correlations, and cases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Event ingestion and outbound enrichment patterns</a:t>
            </a:r>
            <a:endParaRPr lang="en-US" sz="840" dirty="0"/>
          </a:p>
        </p:txBody>
      </p:sp>
      <p:sp>
        <p:nvSpPr>
          <p:cNvPr id="33" name="Text 29"/>
          <p:cNvSpPr/>
          <p:nvPr/>
        </p:nvSpPr>
        <p:spPr>
          <a:xfrm>
            <a:off x="6272784" y="4407408"/>
            <a:ext cx="5477256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sz="840">
                <a:solidFill>
                  <a:srgbClr val="000000"/>
                </a:solidFill>
                <a:latin typeface="Aptos"/>
              </a:rPr>
              <a:t>Ticketing workflow design</a:t>
            </a:r>
            <a:endParaRPr lang="en-US" sz="840" dirty="0"/>
          </a:p>
          <a:p>
            <a:r>
              <a:rPr sz="840">
                <a:solidFill>
                  <a:srgbClr val="000000"/>
                </a:solidFill>
                <a:latin typeface="Aptos"/>
              </a:rPr>
              <a:t>•  Jira/ServiceNow case and remediation ticket mapping</a:t>
            </a:r>
          </a:p>
          <a:p>
            <a:r>
              <a:rPr sz="840">
                <a:solidFill>
                  <a:srgbClr val="000000"/>
                </a:solidFill>
                <a:latin typeface="Aptos"/>
              </a:rPr>
              <a:t>•  State synchronisation rules and audit requirements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DE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502920" y="4114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cards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8796528" y="411480"/>
            <a:ext cx="1188720" cy="338328"/>
          </a:xfrm>
          <a:prstGeom prst="rect">
            <a:avLst/>
          </a:prstGeom>
          <a:solidFill>
            <a:srgbClr val="F47B20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Shape 2"/>
          <p:cNvSpPr/>
          <p:nvPr/>
        </p:nvSpPr>
        <p:spPr>
          <a:xfrm>
            <a:off x="9985248" y="411480"/>
            <a:ext cx="1874520" cy="338328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Text 3"/>
          <p:cNvSpPr/>
          <p:nvPr/>
        </p:nvSpPr>
        <p:spPr>
          <a:xfrm>
            <a:off x="8887968" y="4846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0076688" y="48463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CTI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1170432"/>
            <a:ext cx="11411712" cy="429768"/>
          </a:xfrm>
          <a:prstGeom prst="rect">
            <a:avLst/>
          </a:prstGeom>
          <a:solidFill>
            <a:srgbClr val="5DA2D7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6"/>
          <p:cNvSpPr/>
          <p:nvPr/>
        </p:nvSpPr>
        <p:spPr>
          <a:xfrm>
            <a:off x="566928" y="1298448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Operational Playbooks &amp; Case Automation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0360152" y="126187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</a:rPr>
              <a:t>Q4 2026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57200" y="1600200"/>
            <a:ext cx="11411712" cy="292608"/>
          </a:xfrm>
          <a:prstGeom prst="rect">
            <a:avLst/>
          </a:prstGeom>
          <a:solidFill>
            <a:srgbClr val="EDEDED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Text 9"/>
          <p:cNvSpPr/>
          <p:nvPr/>
        </p:nvSpPr>
        <p:spPr>
          <a:xfrm>
            <a:off x="548640" y="1691640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Description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457200" y="1892808"/>
            <a:ext cx="11411712" cy="914400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Text 11"/>
          <p:cNvSpPr/>
          <p:nvPr/>
        </p:nvSpPr>
        <p:spPr>
          <a:xfrm>
            <a:off x="548640" y="2011680"/>
            <a:ext cx="1109167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Standardise alert-to-case handling by packaging escalation logic, triage SOPs, deterministic case AI, reporting templates, and playbook-based response guidance.</a:t>
            </a:r>
            <a:endParaRPr lang="en-US" sz="920" dirty="0"/>
          </a:p>
        </p:txBody>
      </p:sp>
      <p:sp>
        <p:nvSpPr>
          <p:cNvPr id="16" name="Shape 12"/>
          <p:cNvSpPr/>
          <p:nvPr/>
        </p:nvSpPr>
        <p:spPr>
          <a:xfrm>
            <a:off x="457200" y="2807208"/>
            <a:ext cx="2651760" cy="530352"/>
          </a:xfrm>
          <a:prstGeom prst="rect">
            <a:avLst/>
          </a:prstGeom>
          <a:solidFill>
            <a:srgbClr val="D9D9D9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3"/>
          <p:cNvSpPr/>
          <p:nvPr/>
        </p:nvSpPr>
        <p:spPr>
          <a:xfrm>
            <a:off x="685800" y="299008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◷  Estimated duration</a:t>
            </a:r>
            <a:endParaRPr lang="en-US" sz="840" dirty="0"/>
          </a:p>
        </p:txBody>
      </p:sp>
      <p:sp>
        <p:nvSpPr>
          <p:cNvPr id="18" name="Shape 14"/>
          <p:cNvSpPr/>
          <p:nvPr/>
        </p:nvSpPr>
        <p:spPr>
          <a:xfrm>
            <a:off x="3108960" y="2807208"/>
            <a:ext cx="3931920" cy="530352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Text 15"/>
          <p:cNvSpPr/>
          <p:nvPr/>
        </p:nvSpPr>
        <p:spPr>
          <a:xfrm>
            <a:off x="3246120" y="3008376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8–10 weeks</a:t>
            </a:r>
            <a:endParaRPr lang="en-US" sz="860" dirty="0"/>
          </a:p>
        </p:txBody>
      </p:sp>
      <p:sp>
        <p:nvSpPr>
          <p:cNvPr id="20" name="Shape 16"/>
          <p:cNvSpPr/>
          <p:nvPr/>
        </p:nvSpPr>
        <p:spPr>
          <a:xfrm>
            <a:off x="7040880" y="2807208"/>
            <a:ext cx="2249424" cy="530352"/>
          </a:xfrm>
          <a:prstGeom prst="rect">
            <a:avLst/>
          </a:prstGeom>
          <a:solidFill>
            <a:srgbClr val="D9D9D9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Text 17"/>
          <p:cNvSpPr/>
          <p:nvPr/>
        </p:nvSpPr>
        <p:spPr>
          <a:xfrm>
            <a:off x="7269480" y="299008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⚙  Estimate effort</a:t>
            </a:r>
            <a:endParaRPr lang="en-US" sz="840" dirty="0"/>
          </a:p>
        </p:txBody>
      </p:sp>
      <p:sp>
        <p:nvSpPr>
          <p:cNvPr id="22" name="Shape 18"/>
          <p:cNvSpPr/>
          <p:nvPr/>
        </p:nvSpPr>
        <p:spPr>
          <a:xfrm>
            <a:off x="9290304" y="2807208"/>
            <a:ext cx="2578608" cy="530352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" name="Text 19"/>
          <p:cNvSpPr/>
          <p:nvPr/>
        </p:nvSpPr>
        <p:spPr>
          <a:xfrm>
            <a:off x="9418320" y="3008376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860">
                <a:solidFill>
                  <a:srgbClr val="000000"/>
                </a:solidFill>
                <a:latin typeface="Aptos"/>
              </a:rPr>
              <a:t>1.5 FTEs</a:t>
            </a:r>
            <a:endParaRPr lang="en-US" sz="860" dirty="0"/>
          </a:p>
        </p:txBody>
      </p:sp>
      <p:sp>
        <p:nvSpPr>
          <p:cNvPr id="24" name="Shape 20"/>
          <p:cNvSpPr/>
          <p:nvPr/>
        </p:nvSpPr>
        <p:spPr>
          <a:xfrm>
            <a:off x="457200" y="3337560"/>
            <a:ext cx="2651760" cy="502920"/>
          </a:xfrm>
          <a:prstGeom prst="rect">
            <a:avLst/>
          </a:prstGeom>
          <a:solidFill>
            <a:srgbClr val="D9D9D9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" name="Text 21"/>
          <p:cNvSpPr/>
          <p:nvPr/>
        </p:nvSpPr>
        <p:spPr>
          <a:xfrm>
            <a:off x="685800" y="351129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🔗  Project dependencies</a:t>
            </a:r>
            <a:endParaRPr lang="en-US" sz="840" dirty="0"/>
          </a:p>
        </p:txBody>
      </p:sp>
      <p:sp>
        <p:nvSpPr>
          <p:cNvPr id="26" name="Shape 22"/>
          <p:cNvSpPr/>
          <p:nvPr/>
        </p:nvSpPr>
        <p:spPr>
          <a:xfrm>
            <a:off x="3108960" y="3337560"/>
            <a:ext cx="8759952" cy="502920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" name="Text 23"/>
          <p:cNvSpPr/>
          <p:nvPr/>
        </p:nvSpPr>
        <p:spPr>
          <a:xfrm>
            <a:off x="3246120" y="3511296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 lifecycle, escalation log, case AI reports</a:t>
            </a:r>
            <a:endParaRPr lang="en-US" sz="860" dirty="0"/>
          </a:p>
        </p:txBody>
      </p:sp>
      <p:sp>
        <p:nvSpPr>
          <p:cNvPr id="28" name="Shape 24"/>
          <p:cNvSpPr/>
          <p:nvPr/>
        </p:nvSpPr>
        <p:spPr>
          <a:xfrm>
            <a:off x="457200" y="3840480"/>
            <a:ext cx="11411712" cy="475488"/>
          </a:xfrm>
          <a:prstGeom prst="rect">
            <a:avLst/>
          </a:prstGeom>
          <a:solidFill>
            <a:srgbClr val="D9D9D9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9" name="Text 25"/>
          <p:cNvSpPr/>
          <p:nvPr/>
        </p:nvSpPr>
        <p:spPr>
          <a:xfrm>
            <a:off x="685800" y="401421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▣  Key Deliverables</a:t>
            </a:r>
            <a:endParaRPr lang="en-US" sz="840" dirty="0"/>
          </a:p>
        </p:txBody>
      </p:sp>
      <p:sp>
        <p:nvSpPr>
          <p:cNvPr id="30" name="Shape 26"/>
          <p:cNvSpPr/>
          <p:nvPr/>
        </p:nvSpPr>
        <p:spPr>
          <a:xfrm>
            <a:off x="457200" y="4315968"/>
            <a:ext cx="5705856" cy="1627632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" name="Shape 27"/>
          <p:cNvSpPr/>
          <p:nvPr/>
        </p:nvSpPr>
        <p:spPr>
          <a:xfrm>
            <a:off x="6163056" y="4315968"/>
            <a:ext cx="5705856" cy="1627632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" name="Text 28"/>
          <p:cNvSpPr/>
          <p:nvPr/>
        </p:nvSpPr>
        <p:spPr>
          <a:xfrm>
            <a:off x="566928" y="4407408"/>
            <a:ext cx="5477256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playbooks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Critical/high alert triage SOPs and escalation thresholds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Case priority matrix and closure quality checklist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Hunt-to-case promotion workflow</a:t>
            </a:r>
            <a:endParaRPr lang="en-US" sz="840" dirty="0"/>
          </a:p>
        </p:txBody>
      </p:sp>
      <p:sp>
        <p:nvSpPr>
          <p:cNvPr id="33" name="Text 29"/>
          <p:cNvSpPr/>
          <p:nvPr/>
        </p:nvSpPr>
        <p:spPr>
          <a:xfrm>
            <a:off x="6272784" y="4407408"/>
            <a:ext cx="5477256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reporting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Case AI report template library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Executive summary and technical appendix outputs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Quality review and sign-off workflow</a:t>
            </a:r>
            <a:endParaRPr lang="en-US" sz="8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DE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502920" y="4114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cards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8796528" y="411480"/>
            <a:ext cx="1188720" cy="338328"/>
          </a:xfrm>
          <a:prstGeom prst="rect">
            <a:avLst/>
          </a:prstGeom>
          <a:solidFill>
            <a:srgbClr val="F47B20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Shape 2"/>
          <p:cNvSpPr/>
          <p:nvPr/>
        </p:nvSpPr>
        <p:spPr>
          <a:xfrm>
            <a:off x="9985248" y="411480"/>
            <a:ext cx="1874520" cy="338328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Text 3"/>
          <p:cNvSpPr/>
          <p:nvPr/>
        </p:nvSpPr>
        <p:spPr>
          <a:xfrm>
            <a:off x="8887968" y="4846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0076688" y="48463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CTI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1170432"/>
            <a:ext cx="11411712" cy="429768"/>
          </a:xfrm>
          <a:prstGeom prst="rect">
            <a:avLst/>
          </a:prstGeom>
          <a:solidFill>
            <a:srgbClr val="5DA2D7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6"/>
          <p:cNvSpPr/>
          <p:nvPr/>
        </p:nvSpPr>
        <p:spPr>
          <a:xfrm>
            <a:off x="566928" y="1298448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 External Exposure, Dark Web &amp; Brand Monitoring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0360152" y="126187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50" b="1">
                <a:solidFill>
                  <a:srgbClr val="FFFFFF"/>
                </a:solidFill>
              </a:rPr>
              <a:t>Q4 2026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57200" y="1600200"/>
            <a:ext cx="11411712" cy="292608"/>
          </a:xfrm>
          <a:prstGeom prst="rect">
            <a:avLst/>
          </a:prstGeom>
          <a:solidFill>
            <a:srgbClr val="EDEDED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Text 9"/>
          <p:cNvSpPr/>
          <p:nvPr/>
        </p:nvSpPr>
        <p:spPr>
          <a:xfrm>
            <a:off x="548640" y="1691640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Description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457200" y="1892808"/>
            <a:ext cx="11411712" cy="914400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Text 11"/>
          <p:cNvSpPr/>
          <p:nvPr/>
        </p:nvSpPr>
        <p:spPr>
          <a:xfrm>
            <a:off x="548640" y="2011680"/>
            <a:ext cx="1109167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Expand beyond internal feeds into credential exposure, leaked-data signals, brand impersonation, typosquatting, and executive exposure monitoring mapped into GovSec indicators and cases.</a:t>
            </a:r>
            <a:endParaRPr lang="en-US" sz="920" dirty="0"/>
          </a:p>
        </p:txBody>
      </p:sp>
      <p:sp>
        <p:nvSpPr>
          <p:cNvPr id="16" name="Shape 12"/>
          <p:cNvSpPr/>
          <p:nvPr/>
        </p:nvSpPr>
        <p:spPr>
          <a:xfrm>
            <a:off x="457200" y="2807208"/>
            <a:ext cx="2651760" cy="530352"/>
          </a:xfrm>
          <a:prstGeom prst="rect">
            <a:avLst/>
          </a:prstGeom>
          <a:solidFill>
            <a:srgbClr val="D9D9D9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3"/>
          <p:cNvSpPr/>
          <p:nvPr/>
        </p:nvSpPr>
        <p:spPr>
          <a:xfrm>
            <a:off x="685800" y="299008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◷  Estimated duration</a:t>
            </a:r>
            <a:endParaRPr lang="en-US" sz="840" dirty="0"/>
          </a:p>
        </p:txBody>
      </p:sp>
      <p:sp>
        <p:nvSpPr>
          <p:cNvPr id="18" name="Shape 14"/>
          <p:cNvSpPr/>
          <p:nvPr/>
        </p:nvSpPr>
        <p:spPr>
          <a:xfrm>
            <a:off x="3108960" y="2807208"/>
            <a:ext cx="3931920" cy="530352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Text 15"/>
          <p:cNvSpPr/>
          <p:nvPr/>
        </p:nvSpPr>
        <p:spPr>
          <a:xfrm>
            <a:off x="3246120" y="3008376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10–12 weeks</a:t>
            </a:r>
            <a:endParaRPr lang="en-US" sz="860" dirty="0"/>
          </a:p>
        </p:txBody>
      </p:sp>
      <p:sp>
        <p:nvSpPr>
          <p:cNvPr id="20" name="Shape 16"/>
          <p:cNvSpPr/>
          <p:nvPr/>
        </p:nvSpPr>
        <p:spPr>
          <a:xfrm>
            <a:off x="7040880" y="2807208"/>
            <a:ext cx="2249424" cy="530352"/>
          </a:xfrm>
          <a:prstGeom prst="rect">
            <a:avLst/>
          </a:prstGeom>
          <a:solidFill>
            <a:srgbClr val="D9D9D9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Text 17"/>
          <p:cNvSpPr/>
          <p:nvPr/>
        </p:nvSpPr>
        <p:spPr>
          <a:xfrm>
            <a:off x="7269480" y="299008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⚙  Estimate effort</a:t>
            </a:r>
            <a:endParaRPr lang="en-US" sz="840" dirty="0"/>
          </a:p>
        </p:txBody>
      </p:sp>
      <p:sp>
        <p:nvSpPr>
          <p:cNvPr id="22" name="Shape 18"/>
          <p:cNvSpPr/>
          <p:nvPr/>
        </p:nvSpPr>
        <p:spPr>
          <a:xfrm>
            <a:off x="9290304" y="2807208"/>
            <a:ext cx="2578608" cy="530352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" name="Text 19"/>
          <p:cNvSpPr/>
          <p:nvPr/>
        </p:nvSpPr>
        <p:spPr>
          <a:xfrm>
            <a:off x="9418320" y="3008376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FTEs</a:t>
            </a:r>
            <a:endParaRPr lang="en-US" sz="860" dirty="0"/>
          </a:p>
        </p:txBody>
      </p:sp>
      <p:sp>
        <p:nvSpPr>
          <p:cNvPr id="24" name="Shape 20"/>
          <p:cNvSpPr/>
          <p:nvPr/>
        </p:nvSpPr>
        <p:spPr>
          <a:xfrm>
            <a:off x="457200" y="3337560"/>
            <a:ext cx="2651760" cy="502920"/>
          </a:xfrm>
          <a:prstGeom prst="rect">
            <a:avLst/>
          </a:prstGeom>
          <a:solidFill>
            <a:srgbClr val="D9D9D9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" name="Text 21"/>
          <p:cNvSpPr/>
          <p:nvPr/>
        </p:nvSpPr>
        <p:spPr>
          <a:xfrm>
            <a:off x="685800" y="351129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🔗  Project dependencies</a:t>
            </a:r>
            <a:endParaRPr lang="en-US" sz="840" dirty="0"/>
          </a:p>
        </p:txBody>
      </p:sp>
      <p:sp>
        <p:nvSpPr>
          <p:cNvPr id="26" name="Shape 22"/>
          <p:cNvSpPr/>
          <p:nvPr/>
        </p:nvSpPr>
        <p:spPr>
          <a:xfrm>
            <a:off x="3108960" y="3337560"/>
            <a:ext cx="8759952" cy="502920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" name="Text 23"/>
          <p:cNvSpPr/>
          <p:nvPr/>
        </p:nvSpPr>
        <p:spPr>
          <a:xfrm>
            <a:off x="3246120" y="3511296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 quality pack; actor/indicator/organisation linkage</a:t>
            </a:r>
            <a:endParaRPr lang="en-US" sz="860" dirty="0"/>
          </a:p>
        </p:txBody>
      </p:sp>
      <p:sp>
        <p:nvSpPr>
          <p:cNvPr id="28" name="Shape 24"/>
          <p:cNvSpPr/>
          <p:nvPr/>
        </p:nvSpPr>
        <p:spPr>
          <a:xfrm>
            <a:off x="457200" y="3840480"/>
            <a:ext cx="11411712" cy="475488"/>
          </a:xfrm>
          <a:prstGeom prst="rect">
            <a:avLst/>
          </a:prstGeom>
          <a:solidFill>
            <a:srgbClr val="D9D9D9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9" name="Text 25"/>
          <p:cNvSpPr/>
          <p:nvPr/>
        </p:nvSpPr>
        <p:spPr>
          <a:xfrm>
            <a:off x="685800" y="401421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▣  Key Deliverables</a:t>
            </a:r>
            <a:endParaRPr lang="en-US" sz="840" dirty="0"/>
          </a:p>
        </p:txBody>
      </p:sp>
      <p:sp>
        <p:nvSpPr>
          <p:cNvPr id="30" name="Shape 26"/>
          <p:cNvSpPr/>
          <p:nvPr/>
        </p:nvSpPr>
        <p:spPr>
          <a:xfrm>
            <a:off x="457200" y="4315968"/>
            <a:ext cx="5705856" cy="1627632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" name="Shape 27"/>
          <p:cNvSpPr/>
          <p:nvPr/>
        </p:nvSpPr>
        <p:spPr>
          <a:xfrm>
            <a:off x="6163056" y="4315968"/>
            <a:ext cx="5705856" cy="1627632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" name="Text 28"/>
          <p:cNvSpPr/>
          <p:nvPr/>
        </p:nvSpPr>
        <p:spPr>
          <a:xfrm>
            <a:off x="566928" y="4407408"/>
            <a:ext cx="5477256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 expansion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Dark web credential and leaked-data detection design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Brand, executive, and typosquatting monitoring sources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Exposure severity rules and false-positive handling</a:t>
            </a:r>
            <a:endParaRPr lang="en-US" sz="840" dirty="0"/>
          </a:p>
        </p:txBody>
      </p:sp>
      <p:sp>
        <p:nvSpPr>
          <p:cNvPr id="33" name="Text 29"/>
          <p:cNvSpPr/>
          <p:nvPr/>
        </p:nvSpPr>
        <p:spPr>
          <a:xfrm>
            <a:off x="6272784" y="4407408"/>
            <a:ext cx="5477256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Operationalisation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Exposure-to-indicator normalisation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Executive/organisation linkage and notification workflow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Monthly exposure trend report</a:t>
            </a:r>
            <a:endParaRPr lang="en-US" sz="8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DE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502920" y="4114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cards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8796528" y="411480"/>
            <a:ext cx="1188720" cy="338328"/>
          </a:xfrm>
          <a:prstGeom prst="rect">
            <a:avLst/>
          </a:prstGeom>
          <a:solidFill>
            <a:srgbClr val="F47B20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Shape 2"/>
          <p:cNvSpPr/>
          <p:nvPr/>
        </p:nvSpPr>
        <p:spPr>
          <a:xfrm>
            <a:off x="9985248" y="411480"/>
            <a:ext cx="1874520" cy="338328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Text 3"/>
          <p:cNvSpPr/>
          <p:nvPr/>
        </p:nvSpPr>
        <p:spPr>
          <a:xfrm>
            <a:off x="8887968" y="4846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0076688" y="48463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CTI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1170432"/>
            <a:ext cx="11411712" cy="429768"/>
          </a:xfrm>
          <a:prstGeom prst="rect">
            <a:avLst/>
          </a:prstGeom>
          <a:solidFill>
            <a:srgbClr val="5DA2D7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6"/>
          <p:cNvSpPr/>
          <p:nvPr/>
        </p:nvSpPr>
        <p:spPr>
          <a:xfrm>
            <a:off x="566928" y="1298448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sz="1200" b="1">
                <a:solidFill>
                  <a:srgbClr val="000000"/>
                </a:solidFill>
                <a:latin typeface="Aptos"/>
              </a:rPr>
              <a:t>7. RAG Pipeline Hardening &amp; Semantic Search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0360152" y="126187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</a:rPr>
              <a:t>Q1 2027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57200" y="1600200"/>
            <a:ext cx="11411712" cy="292608"/>
          </a:xfrm>
          <a:prstGeom prst="rect">
            <a:avLst/>
          </a:prstGeom>
          <a:solidFill>
            <a:srgbClr val="EDEDED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Text 9"/>
          <p:cNvSpPr/>
          <p:nvPr/>
        </p:nvSpPr>
        <p:spPr>
          <a:xfrm>
            <a:off x="548640" y="1691640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Description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457200" y="1892808"/>
            <a:ext cx="11411712" cy="914400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Text 11"/>
          <p:cNvSpPr/>
          <p:nvPr/>
        </p:nvSpPr>
        <p:spPr>
          <a:xfrm>
            <a:off x="548640" y="2011680"/>
            <a:ext cx="1109167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sz="920">
                <a:solidFill>
                  <a:srgbClr val="000000"/>
                </a:solidFill>
                <a:latin typeface="Aptos"/>
              </a:rPr>
              <a:t>•  Harden GovSec Command’s RAG pipeline by scoping data access per user role, adding semantic retrieval for relevance, and refining model prompts to close security gaps and improve analysis quality.</a:t>
            </a:r>
            <a:endParaRPr lang="en-US" sz="920" dirty="0"/>
          </a:p>
        </p:txBody>
      </p:sp>
      <p:sp>
        <p:nvSpPr>
          <p:cNvPr id="16" name="Shape 12"/>
          <p:cNvSpPr/>
          <p:nvPr/>
        </p:nvSpPr>
        <p:spPr>
          <a:xfrm>
            <a:off x="457200" y="2807208"/>
            <a:ext cx="2651760" cy="530352"/>
          </a:xfrm>
          <a:prstGeom prst="rect">
            <a:avLst/>
          </a:prstGeom>
          <a:solidFill>
            <a:srgbClr val="D9D9D9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3"/>
          <p:cNvSpPr/>
          <p:nvPr/>
        </p:nvSpPr>
        <p:spPr>
          <a:xfrm>
            <a:off x="685800" y="299008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◷  Estimated duration</a:t>
            </a:r>
            <a:endParaRPr lang="en-US" sz="840" dirty="0"/>
          </a:p>
        </p:txBody>
      </p:sp>
      <p:sp>
        <p:nvSpPr>
          <p:cNvPr id="18" name="Shape 14"/>
          <p:cNvSpPr/>
          <p:nvPr/>
        </p:nvSpPr>
        <p:spPr>
          <a:xfrm>
            <a:off x="3108960" y="2807208"/>
            <a:ext cx="3931920" cy="530352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Text 15"/>
          <p:cNvSpPr/>
          <p:nvPr/>
        </p:nvSpPr>
        <p:spPr>
          <a:xfrm>
            <a:off x="3246120" y="3008376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10–12 weeks</a:t>
            </a:r>
            <a:endParaRPr lang="en-US" sz="860" dirty="0"/>
          </a:p>
        </p:txBody>
      </p:sp>
      <p:sp>
        <p:nvSpPr>
          <p:cNvPr id="20" name="Shape 16"/>
          <p:cNvSpPr/>
          <p:nvPr/>
        </p:nvSpPr>
        <p:spPr>
          <a:xfrm>
            <a:off x="7040880" y="2807208"/>
            <a:ext cx="2249424" cy="530352"/>
          </a:xfrm>
          <a:prstGeom prst="rect">
            <a:avLst/>
          </a:prstGeom>
          <a:solidFill>
            <a:srgbClr val="D9D9D9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Text 17"/>
          <p:cNvSpPr/>
          <p:nvPr/>
        </p:nvSpPr>
        <p:spPr>
          <a:xfrm>
            <a:off x="7269480" y="299008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⚙  Estimate effort</a:t>
            </a:r>
            <a:endParaRPr lang="en-US" sz="840" dirty="0"/>
          </a:p>
        </p:txBody>
      </p:sp>
      <p:sp>
        <p:nvSpPr>
          <p:cNvPr id="22" name="Shape 18"/>
          <p:cNvSpPr/>
          <p:nvPr/>
        </p:nvSpPr>
        <p:spPr>
          <a:xfrm>
            <a:off x="9290304" y="2807208"/>
            <a:ext cx="2578608" cy="530352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" name="Text 19"/>
          <p:cNvSpPr/>
          <p:nvPr/>
        </p:nvSpPr>
        <p:spPr>
          <a:xfrm>
            <a:off x="9418320" y="3008376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FTEs</a:t>
            </a:r>
            <a:endParaRPr lang="en-US" sz="860" dirty="0"/>
          </a:p>
        </p:txBody>
      </p:sp>
      <p:sp>
        <p:nvSpPr>
          <p:cNvPr id="24" name="Shape 20"/>
          <p:cNvSpPr/>
          <p:nvPr/>
        </p:nvSpPr>
        <p:spPr>
          <a:xfrm>
            <a:off x="457200" y="3337560"/>
            <a:ext cx="2651760" cy="502920"/>
          </a:xfrm>
          <a:prstGeom prst="rect">
            <a:avLst/>
          </a:prstGeom>
          <a:solidFill>
            <a:srgbClr val="D9D9D9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" name="Text 21"/>
          <p:cNvSpPr/>
          <p:nvPr/>
        </p:nvSpPr>
        <p:spPr>
          <a:xfrm>
            <a:off x="685800" y="351129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🔗  Project dependencies</a:t>
            </a:r>
            <a:endParaRPr lang="en-US" sz="840" dirty="0"/>
          </a:p>
        </p:txBody>
      </p:sp>
      <p:sp>
        <p:nvSpPr>
          <p:cNvPr id="26" name="Shape 22"/>
          <p:cNvSpPr/>
          <p:nvPr/>
        </p:nvSpPr>
        <p:spPr>
          <a:xfrm>
            <a:off x="3108960" y="3337560"/>
            <a:ext cx="8759952" cy="502920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" name="Text 23"/>
          <p:cNvSpPr/>
          <p:nvPr/>
        </p:nvSpPr>
        <p:spPr>
          <a:xfrm>
            <a:off x="3246120" y="3511296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860">
                <a:solidFill>
                  <a:srgbClr val="000000"/>
                </a:solidFill>
                <a:latin typeface="Aptos"/>
              </a:rPr>
              <a:t>AI Analyst RAG; conversation history; audit controls; security audit findings #43, #51, #55</a:t>
            </a:r>
            <a:endParaRPr lang="en-US" sz="860" dirty="0"/>
          </a:p>
        </p:txBody>
      </p:sp>
      <p:sp>
        <p:nvSpPr>
          <p:cNvPr id="28" name="Shape 24"/>
          <p:cNvSpPr/>
          <p:nvPr/>
        </p:nvSpPr>
        <p:spPr>
          <a:xfrm>
            <a:off x="457200" y="3840480"/>
            <a:ext cx="11411712" cy="475488"/>
          </a:xfrm>
          <a:prstGeom prst="rect">
            <a:avLst/>
          </a:prstGeom>
          <a:solidFill>
            <a:srgbClr val="D9D9D9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9" name="Text 25"/>
          <p:cNvSpPr/>
          <p:nvPr/>
        </p:nvSpPr>
        <p:spPr>
          <a:xfrm>
            <a:off x="685800" y="401421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▣  Key Deliverables</a:t>
            </a:r>
            <a:endParaRPr lang="en-US" sz="840" dirty="0"/>
          </a:p>
        </p:txBody>
      </p:sp>
      <p:sp>
        <p:nvSpPr>
          <p:cNvPr id="30" name="Shape 26"/>
          <p:cNvSpPr/>
          <p:nvPr/>
        </p:nvSpPr>
        <p:spPr>
          <a:xfrm>
            <a:off x="457200" y="4315968"/>
            <a:ext cx="5705856" cy="1627632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" name="Shape 27"/>
          <p:cNvSpPr/>
          <p:nvPr/>
        </p:nvSpPr>
        <p:spPr>
          <a:xfrm>
            <a:off x="6163056" y="4315968"/>
            <a:ext cx="5705856" cy="1627632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" name="Text 28"/>
          <p:cNvSpPr/>
          <p:nvPr/>
        </p:nvSpPr>
        <p:spPr>
          <a:xfrm>
            <a:off x="566928" y="4407408"/>
            <a:ext cx="5477256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sz="840">
                <a:solidFill>
                  <a:srgbClr val="000000"/>
                </a:solidFill>
                <a:latin typeface="Aptos"/>
              </a:rPr>
              <a:t>RAG security &amp; scoping</a:t>
            </a:r>
            <a:endParaRPr lang="en-US" sz="840" dirty="0"/>
          </a:p>
          <a:p>
            <a:r>
              <a:rPr sz="840">
                <a:solidFill>
                  <a:srgbClr val="000000"/>
                </a:solidFill>
                <a:latin typeface="Aptos"/>
              </a:rPr>
              <a:t>•  Role-aware context assembly; no full-table dumps to LLM</a:t>
            </a:r>
          </a:p>
          <a:p>
            <a:r>
              <a:rPr sz="840">
                <a:solidFill>
                  <a:srgbClr val="000000"/>
                </a:solidFill>
                <a:latin typeface="Aptos"/>
              </a:rPr>
              <a:t>•  Classification-aware retrieval filters</a:t>
            </a:r>
          </a:p>
          <a:p>
            <a:r>
              <a:rPr sz="840">
                <a:solidFill>
                  <a:srgbClr val="000000"/>
                </a:solidFill>
                <a:latin typeface="Aptos"/>
              </a:rPr>
              <a:t>•  Conversation history re-sanitization</a:t>
            </a:r>
          </a:p>
        </p:txBody>
      </p:sp>
      <p:sp>
        <p:nvSpPr>
          <p:cNvPr id="33" name="Text 29"/>
          <p:cNvSpPr/>
          <p:nvPr/>
        </p:nvSpPr>
        <p:spPr>
          <a:xfrm>
            <a:off x="6272784" y="4407408"/>
            <a:ext cx="5477256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sz="840">
                <a:solidFill>
                  <a:srgbClr val="000000"/>
                </a:solidFill>
                <a:latin typeface="Aptos"/>
              </a:rPr>
              <a:t>Semantic retrieval &amp; model refinement</a:t>
            </a:r>
            <a:endParaRPr lang="en-US" sz="840" dirty="0"/>
          </a:p>
          <a:p>
            <a:r>
              <a:rPr sz="840">
                <a:solidFill>
                  <a:srgbClr val="000000"/>
                </a:solidFill>
                <a:latin typeface="Aptos"/>
              </a:rPr>
              <a:t>•  Vector index for indicators, cases, reports, and MITRE context</a:t>
            </a:r>
          </a:p>
          <a:p>
            <a:r>
              <a:rPr sz="840">
                <a:solidFill>
                  <a:srgbClr val="000000"/>
                </a:solidFill>
                <a:latin typeface="Aptos"/>
              </a:rPr>
              <a:t>•  Retrieval evaluation set and precision/recall baseline</a:t>
            </a:r>
          </a:p>
          <a:p>
            <a:r>
              <a:rPr sz="840">
                <a:solidFill>
                  <a:srgbClr val="000000"/>
                </a:solidFill>
                <a:latin typeface="Aptos"/>
              </a:rPr>
              <a:t>•  Domain prompt tuning, structured outputs, usage dashboard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DE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502920" y="4114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cards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8796528" y="411480"/>
            <a:ext cx="1188720" cy="338328"/>
          </a:xfrm>
          <a:prstGeom prst="rect">
            <a:avLst/>
          </a:prstGeom>
          <a:solidFill>
            <a:srgbClr val="F47B20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Shape 2"/>
          <p:cNvSpPr/>
          <p:nvPr/>
        </p:nvSpPr>
        <p:spPr>
          <a:xfrm>
            <a:off x="9985248" y="411480"/>
            <a:ext cx="1874520" cy="338328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Text 3"/>
          <p:cNvSpPr/>
          <p:nvPr/>
        </p:nvSpPr>
        <p:spPr>
          <a:xfrm>
            <a:off x="8887968" y="4846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0076688" y="48463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CTI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1170432"/>
            <a:ext cx="11411712" cy="429768"/>
          </a:xfrm>
          <a:prstGeom prst="rect">
            <a:avLst/>
          </a:prstGeom>
          <a:solidFill>
            <a:srgbClr val="5DA2D7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6"/>
          <p:cNvSpPr/>
          <p:nvPr/>
        </p:nvSpPr>
        <p:spPr>
          <a:xfrm>
            <a:off x="566928" y="1298448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AI-Assisted Threat Hunting Generation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0360152" y="126187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</a:rPr>
              <a:t>Q1 2027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57200" y="1600200"/>
            <a:ext cx="11411712" cy="292608"/>
          </a:xfrm>
          <a:prstGeom prst="rect">
            <a:avLst/>
          </a:prstGeom>
          <a:solidFill>
            <a:srgbClr val="EDEDED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Text 9"/>
          <p:cNvSpPr/>
          <p:nvPr/>
        </p:nvSpPr>
        <p:spPr>
          <a:xfrm>
            <a:off x="548640" y="1691640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Description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457200" y="1892808"/>
            <a:ext cx="11411712" cy="914400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Text 11"/>
          <p:cNvSpPr/>
          <p:nvPr/>
        </p:nvSpPr>
        <p:spPr>
          <a:xfrm>
            <a:off x="548640" y="2011680"/>
            <a:ext cx="1109167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Enable senior analysts to convert natural-language hypotheses into validated hunt queries, scheduled hunts, and MITRE-informed investigation workflows.</a:t>
            </a:r>
            <a:endParaRPr lang="en-US" sz="920" dirty="0"/>
          </a:p>
        </p:txBody>
      </p:sp>
      <p:sp>
        <p:nvSpPr>
          <p:cNvPr id="16" name="Shape 12"/>
          <p:cNvSpPr/>
          <p:nvPr/>
        </p:nvSpPr>
        <p:spPr>
          <a:xfrm>
            <a:off x="457200" y="2807208"/>
            <a:ext cx="2651760" cy="530352"/>
          </a:xfrm>
          <a:prstGeom prst="rect">
            <a:avLst/>
          </a:prstGeom>
          <a:solidFill>
            <a:srgbClr val="D9D9D9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3"/>
          <p:cNvSpPr/>
          <p:nvPr/>
        </p:nvSpPr>
        <p:spPr>
          <a:xfrm>
            <a:off x="685800" y="299008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◷  Estimated duration</a:t>
            </a:r>
            <a:endParaRPr lang="en-US" sz="840" dirty="0"/>
          </a:p>
        </p:txBody>
      </p:sp>
      <p:sp>
        <p:nvSpPr>
          <p:cNvPr id="18" name="Shape 14"/>
          <p:cNvSpPr/>
          <p:nvPr/>
        </p:nvSpPr>
        <p:spPr>
          <a:xfrm>
            <a:off x="3108960" y="2807208"/>
            <a:ext cx="3931920" cy="530352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Text 15"/>
          <p:cNvSpPr/>
          <p:nvPr/>
        </p:nvSpPr>
        <p:spPr>
          <a:xfrm>
            <a:off x="3246120" y="3008376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8–10 weeks</a:t>
            </a:r>
            <a:endParaRPr lang="en-US" sz="860" dirty="0"/>
          </a:p>
        </p:txBody>
      </p:sp>
      <p:sp>
        <p:nvSpPr>
          <p:cNvPr id="20" name="Shape 16"/>
          <p:cNvSpPr/>
          <p:nvPr/>
        </p:nvSpPr>
        <p:spPr>
          <a:xfrm>
            <a:off x="7040880" y="2807208"/>
            <a:ext cx="2249424" cy="530352"/>
          </a:xfrm>
          <a:prstGeom prst="rect">
            <a:avLst/>
          </a:prstGeom>
          <a:solidFill>
            <a:srgbClr val="D9D9D9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Text 17"/>
          <p:cNvSpPr/>
          <p:nvPr/>
        </p:nvSpPr>
        <p:spPr>
          <a:xfrm>
            <a:off x="7269480" y="299008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⚙  Estimate effort</a:t>
            </a:r>
            <a:endParaRPr lang="en-US" sz="840" dirty="0"/>
          </a:p>
        </p:txBody>
      </p:sp>
      <p:sp>
        <p:nvSpPr>
          <p:cNvPr id="22" name="Shape 18"/>
          <p:cNvSpPr/>
          <p:nvPr/>
        </p:nvSpPr>
        <p:spPr>
          <a:xfrm>
            <a:off x="9290304" y="2807208"/>
            <a:ext cx="2578608" cy="530352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" name="Text 19"/>
          <p:cNvSpPr/>
          <p:nvPr/>
        </p:nvSpPr>
        <p:spPr>
          <a:xfrm>
            <a:off x="9418320" y="3008376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FTEs</a:t>
            </a:r>
            <a:endParaRPr lang="en-US" sz="860" dirty="0"/>
          </a:p>
        </p:txBody>
      </p:sp>
      <p:sp>
        <p:nvSpPr>
          <p:cNvPr id="24" name="Shape 20"/>
          <p:cNvSpPr/>
          <p:nvPr/>
        </p:nvSpPr>
        <p:spPr>
          <a:xfrm>
            <a:off x="457200" y="3337560"/>
            <a:ext cx="2651760" cy="502920"/>
          </a:xfrm>
          <a:prstGeom prst="rect">
            <a:avLst/>
          </a:prstGeom>
          <a:solidFill>
            <a:srgbClr val="D9D9D9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" name="Text 21"/>
          <p:cNvSpPr/>
          <p:nvPr/>
        </p:nvSpPr>
        <p:spPr>
          <a:xfrm>
            <a:off x="685800" y="351129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🔗  Project dependencies</a:t>
            </a:r>
            <a:endParaRPr lang="en-US" sz="840" dirty="0"/>
          </a:p>
        </p:txBody>
      </p:sp>
      <p:sp>
        <p:nvSpPr>
          <p:cNvPr id="26" name="Shape 22"/>
          <p:cNvSpPr/>
          <p:nvPr/>
        </p:nvSpPr>
        <p:spPr>
          <a:xfrm>
            <a:off x="3108960" y="3337560"/>
            <a:ext cx="8759952" cy="502920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" name="Text 23"/>
          <p:cNvSpPr/>
          <p:nvPr/>
        </p:nvSpPr>
        <p:spPr>
          <a:xfrm>
            <a:off x="3246120" y="3511296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Threat hunting JSON DSL; MITRE coverage heatmap</a:t>
            </a:r>
            <a:endParaRPr lang="en-US" sz="860" dirty="0"/>
          </a:p>
        </p:txBody>
      </p:sp>
      <p:sp>
        <p:nvSpPr>
          <p:cNvPr id="28" name="Shape 24"/>
          <p:cNvSpPr/>
          <p:nvPr/>
        </p:nvSpPr>
        <p:spPr>
          <a:xfrm>
            <a:off x="457200" y="3840480"/>
            <a:ext cx="11411712" cy="475488"/>
          </a:xfrm>
          <a:prstGeom prst="rect">
            <a:avLst/>
          </a:prstGeom>
          <a:solidFill>
            <a:srgbClr val="D9D9D9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9" name="Text 25"/>
          <p:cNvSpPr/>
          <p:nvPr/>
        </p:nvSpPr>
        <p:spPr>
          <a:xfrm>
            <a:off x="685800" y="401421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▣  Key Deliverables</a:t>
            </a:r>
            <a:endParaRPr lang="en-US" sz="840" dirty="0"/>
          </a:p>
        </p:txBody>
      </p:sp>
      <p:sp>
        <p:nvSpPr>
          <p:cNvPr id="30" name="Shape 26"/>
          <p:cNvSpPr/>
          <p:nvPr/>
        </p:nvSpPr>
        <p:spPr>
          <a:xfrm>
            <a:off x="457200" y="4315968"/>
            <a:ext cx="5705856" cy="1627632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" name="Shape 27"/>
          <p:cNvSpPr/>
          <p:nvPr/>
        </p:nvSpPr>
        <p:spPr>
          <a:xfrm>
            <a:off x="6163056" y="4315968"/>
            <a:ext cx="5705856" cy="1627632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" name="Text 28"/>
          <p:cNvSpPr/>
          <p:nvPr/>
        </p:nvSpPr>
        <p:spPr>
          <a:xfrm>
            <a:off x="566928" y="4407408"/>
            <a:ext cx="5477256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Hunt generation assistant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Natural-language hypothesis capture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DSL query generation with safety checks and explanations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MITRE technique suggestions and coverage-gap context</a:t>
            </a:r>
            <a:endParaRPr lang="en-US" sz="840" dirty="0"/>
          </a:p>
        </p:txBody>
      </p:sp>
      <p:sp>
        <p:nvSpPr>
          <p:cNvPr id="33" name="Text 29"/>
          <p:cNvSpPr/>
          <p:nvPr/>
        </p:nvSpPr>
        <p:spPr>
          <a:xfrm>
            <a:off x="6272784" y="4407408"/>
            <a:ext cx="5477256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Hunt operations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Saved/scheduled hunts with approval controls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Result promotion to alerts and cases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Hunt library with reusable playbooks</a:t>
            </a:r>
            <a:endParaRPr lang="en-US" sz="8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DE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502920" y="4114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cards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8796528" y="411480"/>
            <a:ext cx="1188720" cy="338328"/>
          </a:xfrm>
          <a:prstGeom prst="rect">
            <a:avLst/>
          </a:prstGeom>
          <a:solidFill>
            <a:srgbClr val="F47B20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Shape 2"/>
          <p:cNvSpPr/>
          <p:nvPr/>
        </p:nvSpPr>
        <p:spPr>
          <a:xfrm>
            <a:off x="9985248" y="411480"/>
            <a:ext cx="1874520" cy="338328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Text 3"/>
          <p:cNvSpPr/>
          <p:nvPr/>
        </p:nvSpPr>
        <p:spPr>
          <a:xfrm>
            <a:off x="8887968" y="4846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0076688" y="48463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CTI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1170432"/>
            <a:ext cx="11411712" cy="429768"/>
          </a:xfrm>
          <a:prstGeom prst="rect">
            <a:avLst/>
          </a:prstGeom>
          <a:solidFill>
            <a:srgbClr val="5DA2D7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6"/>
          <p:cNvSpPr/>
          <p:nvPr/>
        </p:nvSpPr>
        <p:spPr>
          <a:xfrm>
            <a:off x="566928" y="1298448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sz="1200" b="1">
                <a:solidFill>
                  <a:srgbClr val="000000"/>
                </a:solidFill>
                <a:latin typeface="Aptos"/>
              </a:rPr>
              <a:t>9. CSM SOAR Integration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0360152" y="126187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</a:rPr>
              <a:t>Q1 2027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57200" y="1600200"/>
            <a:ext cx="11411712" cy="292608"/>
          </a:xfrm>
          <a:prstGeom prst="rect">
            <a:avLst/>
          </a:prstGeom>
          <a:solidFill>
            <a:srgbClr val="EDEDED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Text 9"/>
          <p:cNvSpPr/>
          <p:nvPr/>
        </p:nvSpPr>
        <p:spPr>
          <a:xfrm>
            <a:off x="548640" y="1691640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Description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457200" y="1892808"/>
            <a:ext cx="11411712" cy="914400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Text 11"/>
          <p:cNvSpPr/>
          <p:nvPr/>
        </p:nvSpPr>
        <p:spPr>
          <a:xfrm>
            <a:off x="548640" y="2011680"/>
            <a:ext cx="1109167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sz="920">
                <a:solidFill>
                  <a:srgbClr val="000000"/>
                </a:solidFill>
                <a:latin typeface="Aptos"/>
              </a:rPr>
              <a:t>•  Integrate GovSec with CyberSecurity Malaysia's existing SOAR platform, enabling bi-directional alert/case synchronisation, playbook execution, and response action routing back into GovSec.</a:t>
            </a:r>
            <a:endParaRPr lang="en-US" sz="920" dirty="0"/>
          </a:p>
        </p:txBody>
      </p:sp>
      <p:sp>
        <p:nvSpPr>
          <p:cNvPr id="16" name="Shape 12"/>
          <p:cNvSpPr/>
          <p:nvPr/>
        </p:nvSpPr>
        <p:spPr>
          <a:xfrm>
            <a:off x="457200" y="2807208"/>
            <a:ext cx="2651760" cy="530352"/>
          </a:xfrm>
          <a:prstGeom prst="rect">
            <a:avLst/>
          </a:prstGeom>
          <a:solidFill>
            <a:srgbClr val="D9D9D9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3"/>
          <p:cNvSpPr/>
          <p:nvPr/>
        </p:nvSpPr>
        <p:spPr>
          <a:xfrm>
            <a:off x="685800" y="299008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◷  Estimated duration</a:t>
            </a:r>
            <a:endParaRPr lang="en-US" sz="840" dirty="0"/>
          </a:p>
        </p:txBody>
      </p:sp>
      <p:sp>
        <p:nvSpPr>
          <p:cNvPr id="18" name="Shape 14"/>
          <p:cNvSpPr/>
          <p:nvPr/>
        </p:nvSpPr>
        <p:spPr>
          <a:xfrm>
            <a:off x="3108960" y="2807208"/>
            <a:ext cx="3931920" cy="530352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Text 15"/>
          <p:cNvSpPr/>
          <p:nvPr/>
        </p:nvSpPr>
        <p:spPr>
          <a:xfrm>
            <a:off x="3246120" y="3008376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860">
                <a:solidFill>
                  <a:srgbClr val="000000"/>
                </a:solidFill>
                <a:latin typeface="Aptos"/>
              </a:rPr>
              <a:t>6–8 weeks</a:t>
            </a:r>
            <a:endParaRPr lang="en-US" sz="860" dirty="0"/>
          </a:p>
        </p:txBody>
      </p:sp>
      <p:sp>
        <p:nvSpPr>
          <p:cNvPr id="20" name="Shape 16"/>
          <p:cNvSpPr/>
          <p:nvPr/>
        </p:nvSpPr>
        <p:spPr>
          <a:xfrm>
            <a:off x="7040880" y="2807208"/>
            <a:ext cx="2249424" cy="530352"/>
          </a:xfrm>
          <a:prstGeom prst="rect">
            <a:avLst/>
          </a:prstGeom>
          <a:solidFill>
            <a:srgbClr val="D9D9D9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Text 17"/>
          <p:cNvSpPr/>
          <p:nvPr/>
        </p:nvSpPr>
        <p:spPr>
          <a:xfrm>
            <a:off x="7269480" y="299008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⚙  Estimate effort</a:t>
            </a:r>
            <a:endParaRPr lang="en-US" sz="840" dirty="0"/>
          </a:p>
        </p:txBody>
      </p:sp>
      <p:sp>
        <p:nvSpPr>
          <p:cNvPr id="22" name="Shape 18"/>
          <p:cNvSpPr/>
          <p:nvPr/>
        </p:nvSpPr>
        <p:spPr>
          <a:xfrm>
            <a:off x="9290304" y="2807208"/>
            <a:ext cx="2578608" cy="530352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" name="Text 19"/>
          <p:cNvSpPr/>
          <p:nvPr/>
        </p:nvSpPr>
        <p:spPr>
          <a:xfrm>
            <a:off x="9418320" y="3008376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860">
                <a:solidFill>
                  <a:srgbClr val="000000"/>
                </a:solidFill>
                <a:latin typeface="Aptos"/>
              </a:rPr>
              <a:t>2 FTEs</a:t>
            </a:r>
            <a:endParaRPr lang="en-US" sz="860" dirty="0"/>
          </a:p>
        </p:txBody>
      </p:sp>
      <p:sp>
        <p:nvSpPr>
          <p:cNvPr id="24" name="Shape 20"/>
          <p:cNvSpPr/>
          <p:nvPr/>
        </p:nvSpPr>
        <p:spPr>
          <a:xfrm>
            <a:off x="457200" y="3337560"/>
            <a:ext cx="2651760" cy="502920"/>
          </a:xfrm>
          <a:prstGeom prst="rect">
            <a:avLst/>
          </a:prstGeom>
          <a:solidFill>
            <a:srgbClr val="D9D9D9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" name="Text 21"/>
          <p:cNvSpPr/>
          <p:nvPr/>
        </p:nvSpPr>
        <p:spPr>
          <a:xfrm>
            <a:off x="685800" y="351129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🔗  Project dependencies</a:t>
            </a:r>
            <a:endParaRPr lang="en-US" sz="840" dirty="0"/>
          </a:p>
        </p:txBody>
      </p:sp>
      <p:sp>
        <p:nvSpPr>
          <p:cNvPr id="26" name="Shape 22"/>
          <p:cNvSpPr/>
          <p:nvPr/>
        </p:nvSpPr>
        <p:spPr>
          <a:xfrm>
            <a:off x="3108960" y="3337560"/>
            <a:ext cx="8759952" cy="502920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" name="Text 23"/>
          <p:cNvSpPr/>
          <p:nvPr/>
        </p:nvSpPr>
        <p:spPr>
          <a:xfrm>
            <a:off x="3246120" y="3511296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860">
                <a:solidFill>
                  <a:srgbClr val="000000"/>
                </a:solidFill>
                <a:latin typeface="Aptos"/>
              </a:rPr>
              <a:t>Operational playbooks; CSM SOAR API documentation; SIEM/ticketing blueprint</a:t>
            </a:r>
            <a:endParaRPr lang="en-US" sz="860" dirty="0"/>
          </a:p>
        </p:txBody>
      </p:sp>
      <p:sp>
        <p:nvSpPr>
          <p:cNvPr id="28" name="Shape 24"/>
          <p:cNvSpPr/>
          <p:nvPr/>
        </p:nvSpPr>
        <p:spPr>
          <a:xfrm>
            <a:off x="457200" y="3840480"/>
            <a:ext cx="11411712" cy="475488"/>
          </a:xfrm>
          <a:prstGeom prst="rect">
            <a:avLst/>
          </a:prstGeom>
          <a:solidFill>
            <a:srgbClr val="D9D9D9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9" name="Text 25"/>
          <p:cNvSpPr/>
          <p:nvPr/>
        </p:nvSpPr>
        <p:spPr>
          <a:xfrm>
            <a:off x="685800" y="401421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▣  Key Deliverables</a:t>
            </a:r>
            <a:endParaRPr lang="en-US" sz="840" dirty="0"/>
          </a:p>
        </p:txBody>
      </p:sp>
      <p:sp>
        <p:nvSpPr>
          <p:cNvPr id="30" name="Shape 26"/>
          <p:cNvSpPr/>
          <p:nvPr/>
        </p:nvSpPr>
        <p:spPr>
          <a:xfrm>
            <a:off x="457200" y="4315968"/>
            <a:ext cx="5705856" cy="1627632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" name="Shape 27"/>
          <p:cNvSpPr/>
          <p:nvPr/>
        </p:nvSpPr>
        <p:spPr>
          <a:xfrm>
            <a:off x="6163056" y="4315968"/>
            <a:ext cx="5705856" cy="1627632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" name="Text 28"/>
          <p:cNvSpPr/>
          <p:nvPr/>
        </p:nvSpPr>
        <p:spPr>
          <a:xfrm>
            <a:off x="566928" y="4407408"/>
            <a:ext cx="5477256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sz="840">
                <a:solidFill>
                  <a:srgbClr val="000000"/>
                </a:solidFill>
                <a:latin typeface="Aptos"/>
              </a:rPr>
              <a:t>Integration layer</a:t>
            </a:r>
            <a:endParaRPr lang="en-US" sz="840" dirty="0"/>
          </a:p>
          <a:p>
            <a:r>
              <a:rPr sz="840">
                <a:solidFill>
                  <a:srgbClr val="000000"/>
                </a:solidFill>
                <a:latin typeface="Aptos"/>
              </a:rPr>
              <a:t>•  CSM SOAR API connector for alert and case synchronisation</a:t>
            </a:r>
          </a:p>
          <a:p>
            <a:r>
              <a:rPr sz="840">
                <a:solidFill>
                  <a:srgbClr val="000000"/>
                </a:solidFill>
                <a:latin typeface="Aptos"/>
              </a:rPr>
              <a:t>•  Playbook trigger mapping from GovSec alerts to SOAR playbooks</a:t>
            </a:r>
          </a:p>
          <a:p>
            <a:r>
              <a:rPr sz="840">
                <a:solidFill>
                  <a:srgbClr val="000000"/>
                </a:solidFill>
                <a:latin typeface="Aptos"/>
              </a:rPr>
              <a:t>•  Response action routing back to GovSec case timeline</a:t>
            </a:r>
          </a:p>
        </p:txBody>
      </p:sp>
      <p:sp>
        <p:nvSpPr>
          <p:cNvPr id="33" name="Text 29"/>
          <p:cNvSpPr/>
          <p:nvPr/>
        </p:nvSpPr>
        <p:spPr>
          <a:xfrm>
            <a:off x="6272784" y="4407408"/>
            <a:ext cx="5477256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sz="840">
                <a:solidFill>
                  <a:srgbClr val="000000"/>
                </a:solidFill>
                <a:latin typeface="Aptos"/>
              </a:rPr>
              <a:t>Operational alignment</a:t>
            </a:r>
            <a:endParaRPr lang="en-US" sz="840" dirty="0"/>
          </a:p>
          <a:p>
            <a:r>
              <a:rPr sz="840">
                <a:solidFill>
                  <a:srgbClr val="000000"/>
                </a:solidFill>
                <a:latin typeface="Aptos"/>
              </a:rPr>
              <a:t>•  Alert severity and status mapping between platforms</a:t>
            </a:r>
          </a:p>
          <a:p>
            <a:r>
              <a:rPr sz="840">
                <a:solidFill>
                  <a:srgbClr val="000000"/>
                </a:solidFill>
                <a:latin typeface="Aptos"/>
              </a:rPr>
              <a:t>•  Audit trail for cross-platform actions</a:t>
            </a:r>
          </a:p>
          <a:p>
            <a:r>
              <a:rPr sz="840">
                <a:solidFill>
                  <a:srgbClr val="000000"/>
                </a:solidFill>
                <a:latin typeface="Aptos"/>
              </a:rPr>
              <a:t>•  Integration test harness with sample payloads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DE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502920" y="4114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cards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8796528" y="411480"/>
            <a:ext cx="1188720" cy="338328"/>
          </a:xfrm>
          <a:prstGeom prst="rect">
            <a:avLst/>
          </a:prstGeom>
          <a:solidFill>
            <a:srgbClr val="F47B20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Shape 2"/>
          <p:cNvSpPr/>
          <p:nvPr/>
        </p:nvSpPr>
        <p:spPr>
          <a:xfrm>
            <a:off x="9985248" y="411480"/>
            <a:ext cx="1874520" cy="338328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Text 3"/>
          <p:cNvSpPr/>
          <p:nvPr/>
        </p:nvSpPr>
        <p:spPr>
          <a:xfrm>
            <a:off x="8887968" y="4846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0076688" y="48463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CTI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1170432"/>
            <a:ext cx="11411712" cy="429768"/>
          </a:xfrm>
          <a:prstGeom prst="rect">
            <a:avLst/>
          </a:prstGeom>
          <a:solidFill>
            <a:srgbClr val="5DA2D7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6"/>
          <p:cNvSpPr/>
          <p:nvPr/>
        </p:nvSpPr>
        <p:spPr>
          <a:xfrm>
            <a:off x="566928" y="1298448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 High Assurance Resilience: BYOK/HYOK &amp; HA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0360152" y="126187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</a:rPr>
              <a:t>Q2 2027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57200" y="1600200"/>
            <a:ext cx="11411712" cy="292608"/>
          </a:xfrm>
          <a:prstGeom prst="rect">
            <a:avLst/>
          </a:prstGeom>
          <a:solidFill>
            <a:srgbClr val="EDEDED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Text 9"/>
          <p:cNvSpPr/>
          <p:nvPr/>
        </p:nvSpPr>
        <p:spPr>
          <a:xfrm>
            <a:off x="548640" y="1691640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Description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457200" y="1892808"/>
            <a:ext cx="11411712" cy="914400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Text 11"/>
          <p:cNvSpPr/>
          <p:nvPr/>
        </p:nvSpPr>
        <p:spPr>
          <a:xfrm>
            <a:off x="548640" y="2011680"/>
            <a:ext cx="1109167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Prepare GovSec for high-assurance government hosting by introducing customer-managed key options, resilience design, backup validation, and active-active HA planning.</a:t>
            </a:r>
            <a:endParaRPr lang="en-US" sz="920" dirty="0"/>
          </a:p>
        </p:txBody>
      </p:sp>
      <p:sp>
        <p:nvSpPr>
          <p:cNvPr id="16" name="Shape 12"/>
          <p:cNvSpPr/>
          <p:nvPr/>
        </p:nvSpPr>
        <p:spPr>
          <a:xfrm>
            <a:off x="457200" y="2807208"/>
            <a:ext cx="2651760" cy="530352"/>
          </a:xfrm>
          <a:prstGeom prst="rect">
            <a:avLst/>
          </a:prstGeom>
          <a:solidFill>
            <a:srgbClr val="D9D9D9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3"/>
          <p:cNvSpPr/>
          <p:nvPr/>
        </p:nvSpPr>
        <p:spPr>
          <a:xfrm>
            <a:off x="685800" y="299008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◷  Estimated duration</a:t>
            </a:r>
            <a:endParaRPr lang="en-US" sz="840" dirty="0"/>
          </a:p>
        </p:txBody>
      </p:sp>
      <p:sp>
        <p:nvSpPr>
          <p:cNvPr id="18" name="Shape 14"/>
          <p:cNvSpPr/>
          <p:nvPr/>
        </p:nvSpPr>
        <p:spPr>
          <a:xfrm>
            <a:off x="3108960" y="2807208"/>
            <a:ext cx="3931920" cy="530352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Text 15"/>
          <p:cNvSpPr/>
          <p:nvPr/>
        </p:nvSpPr>
        <p:spPr>
          <a:xfrm>
            <a:off x="3246120" y="3008376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12–14 weeks</a:t>
            </a:r>
            <a:endParaRPr lang="en-US" sz="860" dirty="0"/>
          </a:p>
        </p:txBody>
      </p:sp>
      <p:sp>
        <p:nvSpPr>
          <p:cNvPr id="20" name="Shape 16"/>
          <p:cNvSpPr/>
          <p:nvPr/>
        </p:nvSpPr>
        <p:spPr>
          <a:xfrm>
            <a:off x="7040880" y="2807208"/>
            <a:ext cx="2249424" cy="530352"/>
          </a:xfrm>
          <a:prstGeom prst="rect">
            <a:avLst/>
          </a:prstGeom>
          <a:solidFill>
            <a:srgbClr val="D9D9D9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Text 17"/>
          <p:cNvSpPr/>
          <p:nvPr/>
        </p:nvSpPr>
        <p:spPr>
          <a:xfrm>
            <a:off x="7269480" y="299008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⚙  Estimate effort</a:t>
            </a:r>
            <a:endParaRPr lang="en-US" sz="840" dirty="0"/>
          </a:p>
        </p:txBody>
      </p:sp>
      <p:sp>
        <p:nvSpPr>
          <p:cNvPr id="22" name="Shape 18"/>
          <p:cNvSpPr/>
          <p:nvPr/>
        </p:nvSpPr>
        <p:spPr>
          <a:xfrm>
            <a:off x="9290304" y="2807208"/>
            <a:ext cx="2578608" cy="530352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" name="Text 19"/>
          <p:cNvSpPr/>
          <p:nvPr/>
        </p:nvSpPr>
        <p:spPr>
          <a:xfrm>
            <a:off x="9418320" y="3008376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FTEs</a:t>
            </a:r>
            <a:endParaRPr lang="en-US" sz="860" dirty="0"/>
          </a:p>
        </p:txBody>
      </p:sp>
      <p:sp>
        <p:nvSpPr>
          <p:cNvPr id="24" name="Shape 20"/>
          <p:cNvSpPr/>
          <p:nvPr/>
        </p:nvSpPr>
        <p:spPr>
          <a:xfrm>
            <a:off x="457200" y="3337560"/>
            <a:ext cx="2651760" cy="502920"/>
          </a:xfrm>
          <a:prstGeom prst="rect">
            <a:avLst/>
          </a:prstGeom>
          <a:solidFill>
            <a:srgbClr val="D9D9D9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" name="Text 21"/>
          <p:cNvSpPr/>
          <p:nvPr/>
        </p:nvSpPr>
        <p:spPr>
          <a:xfrm>
            <a:off x="685800" y="351129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🔗  Project dependencies</a:t>
            </a:r>
            <a:endParaRPr lang="en-US" sz="840" dirty="0"/>
          </a:p>
        </p:txBody>
      </p:sp>
      <p:sp>
        <p:nvSpPr>
          <p:cNvPr id="26" name="Shape 22"/>
          <p:cNvSpPr/>
          <p:nvPr/>
        </p:nvSpPr>
        <p:spPr>
          <a:xfrm>
            <a:off x="3108960" y="3337560"/>
            <a:ext cx="8759952" cy="502920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" name="Text 23"/>
          <p:cNvSpPr/>
          <p:nvPr/>
        </p:nvSpPr>
        <p:spPr>
          <a:xfrm>
            <a:off x="3246120" y="3511296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hardening; deployment baseline; data residency requirements</a:t>
            </a:r>
            <a:endParaRPr lang="en-US" sz="860" dirty="0"/>
          </a:p>
        </p:txBody>
      </p:sp>
      <p:sp>
        <p:nvSpPr>
          <p:cNvPr id="28" name="Shape 24"/>
          <p:cNvSpPr/>
          <p:nvPr/>
        </p:nvSpPr>
        <p:spPr>
          <a:xfrm>
            <a:off x="457200" y="3840480"/>
            <a:ext cx="11411712" cy="475488"/>
          </a:xfrm>
          <a:prstGeom prst="rect">
            <a:avLst/>
          </a:prstGeom>
          <a:solidFill>
            <a:srgbClr val="D9D9D9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9" name="Text 25"/>
          <p:cNvSpPr/>
          <p:nvPr/>
        </p:nvSpPr>
        <p:spPr>
          <a:xfrm>
            <a:off x="685800" y="401421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▣  Key Deliverables</a:t>
            </a:r>
            <a:endParaRPr lang="en-US" sz="840" dirty="0"/>
          </a:p>
        </p:txBody>
      </p:sp>
      <p:sp>
        <p:nvSpPr>
          <p:cNvPr id="30" name="Shape 26"/>
          <p:cNvSpPr/>
          <p:nvPr/>
        </p:nvSpPr>
        <p:spPr>
          <a:xfrm>
            <a:off x="457200" y="4315968"/>
            <a:ext cx="5705856" cy="1627632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" name="Shape 27"/>
          <p:cNvSpPr/>
          <p:nvPr/>
        </p:nvSpPr>
        <p:spPr>
          <a:xfrm>
            <a:off x="6163056" y="4315968"/>
            <a:ext cx="5705856" cy="1627632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" name="Text 28"/>
          <p:cNvSpPr/>
          <p:nvPr/>
        </p:nvSpPr>
        <p:spPr>
          <a:xfrm>
            <a:off x="566928" y="4407408"/>
            <a:ext cx="5477256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management design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BYOK/HYOK architecture and operating model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Secret rotation, database encryption, and audit requirements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Key custody, break-glass, and recovery procedures</a:t>
            </a:r>
            <a:endParaRPr lang="en-US" sz="840" dirty="0"/>
          </a:p>
        </p:txBody>
      </p:sp>
      <p:sp>
        <p:nvSpPr>
          <p:cNvPr id="33" name="Text 29"/>
          <p:cNvSpPr/>
          <p:nvPr/>
        </p:nvSpPr>
        <p:spPr>
          <a:xfrm>
            <a:off x="6272784" y="4407408"/>
            <a:ext cx="5477256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Resilience roadmap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Backup/restore validation and RTO/RPO targets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Multi-region HA reference architecture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Failover test plan and operational readiness report</a:t>
            </a:r>
            <a:endParaRPr lang="en-US" sz="8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DE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502920" y="4114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cards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8796528" y="411480"/>
            <a:ext cx="1188720" cy="338328"/>
          </a:xfrm>
          <a:prstGeom prst="rect">
            <a:avLst/>
          </a:prstGeom>
          <a:solidFill>
            <a:srgbClr val="F47B20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Shape 2"/>
          <p:cNvSpPr/>
          <p:nvPr/>
        </p:nvSpPr>
        <p:spPr>
          <a:xfrm>
            <a:off x="9985248" y="411480"/>
            <a:ext cx="1874520" cy="338328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Text 3"/>
          <p:cNvSpPr/>
          <p:nvPr/>
        </p:nvSpPr>
        <p:spPr>
          <a:xfrm>
            <a:off x="8887968" y="4846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0076688" y="48463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CTI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1170432"/>
            <a:ext cx="11411712" cy="429768"/>
          </a:xfrm>
          <a:prstGeom prst="rect">
            <a:avLst/>
          </a:prstGeom>
          <a:solidFill>
            <a:srgbClr val="5DA2D7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6"/>
          <p:cNvSpPr/>
          <p:nvPr/>
        </p:nvSpPr>
        <p:spPr>
          <a:xfrm>
            <a:off x="566928" y="1298448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 Regulatory Change &amp; Maturity Analytics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0360152" y="126187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</a:rPr>
              <a:t>Q2 2027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57200" y="1600200"/>
            <a:ext cx="11411712" cy="292608"/>
          </a:xfrm>
          <a:prstGeom prst="rect">
            <a:avLst/>
          </a:prstGeom>
          <a:solidFill>
            <a:srgbClr val="EDEDED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Text 9"/>
          <p:cNvSpPr/>
          <p:nvPr/>
        </p:nvSpPr>
        <p:spPr>
          <a:xfrm>
            <a:off x="548640" y="1691640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Description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457200" y="1892808"/>
            <a:ext cx="11411712" cy="914400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Text 11"/>
          <p:cNvSpPr/>
          <p:nvPr/>
        </p:nvSpPr>
        <p:spPr>
          <a:xfrm>
            <a:off x="548640" y="2011680"/>
            <a:ext cx="1109167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Close the first roadmap year with automated compliance monitoring, maturity metrics, and leadership analytics that show risk reduction and product value over time.</a:t>
            </a:r>
            <a:endParaRPr lang="en-US" sz="920" dirty="0"/>
          </a:p>
        </p:txBody>
      </p:sp>
      <p:sp>
        <p:nvSpPr>
          <p:cNvPr id="16" name="Shape 12"/>
          <p:cNvSpPr/>
          <p:nvPr/>
        </p:nvSpPr>
        <p:spPr>
          <a:xfrm>
            <a:off x="457200" y="2807208"/>
            <a:ext cx="2651760" cy="530352"/>
          </a:xfrm>
          <a:prstGeom prst="rect">
            <a:avLst/>
          </a:prstGeom>
          <a:solidFill>
            <a:srgbClr val="D9D9D9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3"/>
          <p:cNvSpPr/>
          <p:nvPr/>
        </p:nvSpPr>
        <p:spPr>
          <a:xfrm>
            <a:off x="685800" y="299008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◷  Estimated duration</a:t>
            </a:r>
            <a:endParaRPr lang="en-US" sz="840" dirty="0"/>
          </a:p>
        </p:txBody>
      </p:sp>
      <p:sp>
        <p:nvSpPr>
          <p:cNvPr id="18" name="Shape 14"/>
          <p:cNvSpPr/>
          <p:nvPr/>
        </p:nvSpPr>
        <p:spPr>
          <a:xfrm>
            <a:off x="3108960" y="2807208"/>
            <a:ext cx="3931920" cy="530352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Text 15"/>
          <p:cNvSpPr/>
          <p:nvPr/>
        </p:nvSpPr>
        <p:spPr>
          <a:xfrm>
            <a:off x="3246120" y="3008376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8–10 weeks</a:t>
            </a:r>
            <a:endParaRPr lang="en-US" sz="860" dirty="0"/>
          </a:p>
        </p:txBody>
      </p:sp>
      <p:sp>
        <p:nvSpPr>
          <p:cNvPr id="20" name="Shape 16"/>
          <p:cNvSpPr/>
          <p:nvPr/>
        </p:nvSpPr>
        <p:spPr>
          <a:xfrm>
            <a:off x="7040880" y="2807208"/>
            <a:ext cx="2249424" cy="530352"/>
          </a:xfrm>
          <a:prstGeom prst="rect">
            <a:avLst/>
          </a:prstGeom>
          <a:solidFill>
            <a:srgbClr val="D9D9D9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Text 17"/>
          <p:cNvSpPr/>
          <p:nvPr/>
        </p:nvSpPr>
        <p:spPr>
          <a:xfrm>
            <a:off x="7269480" y="299008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⚙  Estimate effort</a:t>
            </a:r>
            <a:endParaRPr lang="en-US" sz="840" dirty="0"/>
          </a:p>
        </p:txBody>
      </p:sp>
      <p:sp>
        <p:nvSpPr>
          <p:cNvPr id="22" name="Shape 18"/>
          <p:cNvSpPr/>
          <p:nvPr/>
        </p:nvSpPr>
        <p:spPr>
          <a:xfrm>
            <a:off x="9290304" y="2807208"/>
            <a:ext cx="2578608" cy="530352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" name="Text 19"/>
          <p:cNvSpPr/>
          <p:nvPr/>
        </p:nvSpPr>
        <p:spPr>
          <a:xfrm>
            <a:off x="9418320" y="3008376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FTEs</a:t>
            </a:r>
            <a:endParaRPr lang="en-US" sz="860" dirty="0"/>
          </a:p>
        </p:txBody>
      </p:sp>
      <p:sp>
        <p:nvSpPr>
          <p:cNvPr id="24" name="Shape 20"/>
          <p:cNvSpPr/>
          <p:nvPr/>
        </p:nvSpPr>
        <p:spPr>
          <a:xfrm>
            <a:off x="457200" y="3337560"/>
            <a:ext cx="2651760" cy="502920"/>
          </a:xfrm>
          <a:prstGeom prst="rect">
            <a:avLst/>
          </a:prstGeom>
          <a:solidFill>
            <a:srgbClr val="D9D9D9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" name="Text 21"/>
          <p:cNvSpPr/>
          <p:nvPr/>
        </p:nvSpPr>
        <p:spPr>
          <a:xfrm>
            <a:off x="685800" y="351129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🔗  Project dependencies</a:t>
            </a:r>
            <a:endParaRPr lang="en-US" sz="840" dirty="0"/>
          </a:p>
        </p:txBody>
      </p:sp>
      <p:sp>
        <p:nvSpPr>
          <p:cNvPr id="26" name="Shape 22"/>
          <p:cNvSpPr/>
          <p:nvPr/>
        </p:nvSpPr>
        <p:spPr>
          <a:xfrm>
            <a:off x="3108960" y="3337560"/>
            <a:ext cx="8759952" cy="502920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" name="Text 23"/>
          <p:cNvSpPr/>
          <p:nvPr/>
        </p:nvSpPr>
        <p:spPr>
          <a:xfrm>
            <a:off x="3246120" y="3511296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PDPA engine; audit log; executive dashboard</a:t>
            </a:r>
            <a:endParaRPr lang="en-US" sz="860" dirty="0"/>
          </a:p>
        </p:txBody>
      </p:sp>
      <p:sp>
        <p:nvSpPr>
          <p:cNvPr id="28" name="Shape 24"/>
          <p:cNvSpPr/>
          <p:nvPr/>
        </p:nvSpPr>
        <p:spPr>
          <a:xfrm>
            <a:off x="457200" y="3840480"/>
            <a:ext cx="11411712" cy="475488"/>
          </a:xfrm>
          <a:prstGeom prst="rect">
            <a:avLst/>
          </a:prstGeom>
          <a:solidFill>
            <a:srgbClr val="D9D9D9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9" name="Text 25"/>
          <p:cNvSpPr/>
          <p:nvPr/>
        </p:nvSpPr>
        <p:spPr>
          <a:xfrm>
            <a:off x="685800" y="401421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▣  Key Deliverables</a:t>
            </a:r>
            <a:endParaRPr lang="en-US" sz="840" dirty="0"/>
          </a:p>
        </p:txBody>
      </p:sp>
      <p:sp>
        <p:nvSpPr>
          <p:cNvPr id="30" name="Shape 26"/>
          <p:cNvSpPr/>
          <p:nvPr/>
        </p:nvSpPr>
        <p:spPr>
          <a:xfrm>
            <a:off x="457200" y="4315968"/>
            <a:ext cx="5705856" cy="1627632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" name="Shape 27"/>
          <p:cNvSpPr/>
          <p:nvPr/>
        </p:nvSpPr>
        <p:spPr>
          <a:xfrm>
            <a:off x="6163056" y="4315968"/>
            <a:ext cx="5705856" cy="1627632"/>
          </a:xfrm>
          <a:prstGeom prst="rect">
            <a:avLst/>
          </a:prstGeom>
          <a:solidFill>
            <a:srgbClr val="FFFFFF"/>
          </a:solidFill>
          <a:ln w="825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" name="Text 28"/>
          <p:cNvSpPr/>
          <p:nvPr/>
        </p:nvSpPr>
        <p:spPr>
          <a:xfrm>
            <a:off x="566928" y="4407408"/>
            <a:ext cx="5477256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sz="840">
                <a:solidFill>
                  <a:srgbClr val="000000"/>
                </a:solidFill>
                <a:latin typeface="Aptos"/>
              </a:rPr>
              <a:t>Regulatory monitoring</a:t>
            </a:r>
            <a:endParaRPr lang="en-US" sz="840" dirty="0"/>
          </a:p>
          <a:p>
            <a:r>
              <a:rPr sz="840">
                <a:solidFill>
                  <a:srgbClr val="000000"/>
                </a:solidFill>
                <a:latin typeface="Aptos"/>
              </a:rPr>
              <a:t>•  PDPA and related Malaysian regulatory change tracker</a:t>
            </a:r>
          </a:p>
          <a:p>
            <a:r>
              <a:rPr sz="840">
                <a:solidFill>
                  <a:srgbClr val="000000"/>
                </a:solidFill>
                <a:latin typeface="Aptos"/>
              </a:rPr>
              <a:t>•  MyCERT/CsIRT feed integration and sharing readiness</a:t>
            </a:r>
          </a:p>
          <a:p>
            <a:r>
              <a:rPr sz="840">
                <a:solidFill>
                  <a:srgbClr val="000000"/>
                </a:solidFill>
                <a:latin typeface="Aptos"/>
              </a:rPr>
              <a:t>•  Impact assessment workflow; retention and PII exception reporting</a:t>
            </a:r>
          </a:p>
        </p:txBody>
      </p:sp>
      <p:sp>
        <p:nvSpPr>
          <p:cNvPr id="33" name="Text 29"/>
          <p:cNvSpPr/>
          <p:nvPr/>
        </p:nvSpPr>
        <p:spPr>
          <a:xfrm>
            <a:off x="6272784" y="4407408"/>
            <a:ext cx="5477256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Maturity analytics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Quarterly control effectiveness scorecard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KPI dashboard for ingestion health, detection coverage, response time, and AI usage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Roadmap refresh pack for Q3 2027 planning</a:t>
            </a:r>
            <a:endParaRPr lang="en-US" sz="8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1738</Words>
  <Application>Microsoft Office PowerPoint</Application>
  <PresentationFormat>Widescreen</PresentationFormat>
  <Paragraphs>322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GovSec Product Roadmap Q3 2026 – Q2 2027</dc:title>
  <dc:subject>GovSec Product Roadmap</dc:subject>
  <dc:creator>OpenAI</dc:creator>
  <cp:lastModifiedBy>Ahmad Fuad</cp:lastModifiedBy>
  <cp:revision>4</cp:revision>
  <dcterms:created xsi:type="dcterms:W3CDTF">2026-08-17T05:00:22Z</dcterms:created>
  <dcterms:modified xsi:type="dcterms:W3CDTF">2026-08-17T07:33:59Z</dcterms:modified>
</cp:coreProperties>
</file>